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3903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7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4" name="Shap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3657600" cy="3657600"/>
          </a:xfrm>
          <a:prstGeom prst="rect">
            <a:avLst/>
          </a:prstGeom>
          <a:solidFill>
            <a:srgbClr val="DBEAFE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8" name="Text 5"/>
          <p:cNvSpPr/>
          <p:nvPr/>
        </p:nvSpPr>
        <p:spPr>
          <a:xfrm>
            <a:off x="457200" y="28346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00" i="1" noProof="0" dirty="0">
                <a:solidFill>
                  <a:srgbClr val="64748B"/>
                </a:solidFill>
              </a:rPr>
              <a:t>▲  実際の出席コード表示画面</a:t>
            </a:r>
            <a:endParaRPr lang="ja-JP" sz="900" noProof="0" dirty="0"/>
          </a:p>
        </p:txBody>
      </p:sp>
      <p:sp>
        <p:nvSpPr>
          <p:cNvPr id="11" name="Shape 7"/>
          <p:cNvSpPr/>
          <p:nvPr/>
        </p:nvSpPr>
        <p:spPr>
          <a:xfrm>
            <a:off x="4389120" y="731520"/>
            <a:ext cx="448056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2" name="Text 8"/>
          <p:cNvSpPr/>
          <p:nvPr/>
        </p:nvSpPr>
        <p:spPr>
          <a:xfrm>
            <a:off x="4389120" y="9144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4600" b="1" noProof="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CodeWidget</a:t>
            </a:r>
            <a:endParaRPr lang="ja-JP" sz="4600" noProof="0" dirty="0"/>
          </a:p>
        </p:txBody>
      </p:sp>
      <p:sp>
        <p:nvSpPr>
          <p:cNvPr id="13" name="Text 9"/>
          <p:cNvSpPr/>
          <p:nvPr/>
        </p:nvSpPr>
        <p:spPr>
          <a:xfrm>
            <a:off x="4389120" y="187452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000" noProof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出席コード展示ツール</a:t>
            </a:r>
            <a:endParaRPr lang="ja-JP" sz="2000" noProof="0" dirty="0"/>
          </a:p>
        </p:txBody>
      </p:sp>
      <p:sp>
        <p:nvSpPr>
          <p:cNvPr id="14" name="Shape 10"/>
          <p:cNvSpPr/>
          <p:nvPr/>
        </p:nvSpPr>
        <p:spPr>
          <a:xfrm>
            <a:off x="4389120" y="2487168"/>
            <a:ext cx="448056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5" name="Text 11"/>
          <p:cNvSpPr/>
          <p:nvPr/>
        </p:nvSpPr>
        <p:spPr>
          <a:xfrm>
            <a:off x="4389120" y="26060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8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ユーザーマニュアル</a:t>
            </a:r>
            <a:endParaRPr lang="ja-JP" sz="1800" noProof="0" dirty="0"/>
          </a:p>
        </p:txBody>
      </p:sp>
      <p:sp>
        <p:nvSpPr>
          <p:cNvPr id="16" name="Text 12"/>
          <p:cNvSpPr/>
          <p:nvPr/>
        </p:nvSpPr>
        <p:spPr>
          <a:xfrm>
            <a:off x="4389120" y="32918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293B"/>
                </a:solidFill>
              </a:rPr>
              <a:t>対応バージョン  v1.</a:t>
            </a:r>
            <a:r>
              <a:rPr lang="en-US" altLang="ja-JP" sz="1200" b="1" noProof="0" dirty="0">
                <a:solidFill>
                  <a:srgbClr val="1E293B"/>
                </a:solidFill>
              </a:rPr>
              <a:t>1</a:t>
            </a:r>
            <a:r>
              <a:rPr lang="ja-JP" sz="1200" b="1" noProof="0" dirty="0">
                <a:solidFill>
                  <a:srgbClr val="1E293B"/>
                </a:solidFill>
              </a:rPr>
              <a:t>.0</a:t>
            </a:r>
            <a:endParaRPr lang="ja-JP" sz="1200" noProof="0" dirty="0"/>
          </a:p>
        </p:txBody>
      </p:sp>
      <p:sp>
        <p:nvSpPr>
          <p:cNvPr id="17" name="Text 13"/>
          <p:cNvSpPr/>
          <p:nvPr/>
        </p:nvSpPr>
        <p:spPr>
          <a:xfrm>
            <a:off x="4389120" y="361188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64748B"/>
                </a:solidFill>
              </a:rPr>
              <a:t>Python 3.12 + PySide6　Windows / macOS</a:t>
            </a:r>
            <a:endParaRPr lang="ja-JP" sz="1100" noProof="0" dirty="0"/>
          </a:p>
        </p:txBody>
      </p:sp>
      <p:sp>
        <p:nvSpPr>
          <p:cNvPr id="18" name="Shape 14"/>
          <p:cNvSpPr/>
          <p:nvPr/>
        </p:nvSpPr>
        <p:spPr>
          <a:xfrm>
            <a:off x="4389120" y="4160520"/>
            <a:ext cx="4480560" cy="685800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9" name="Text 15"/>
          <p:cNvSpPr/>
          <p:nvPr/>
        </p:nvSpPr>
        <p:spPr>
          <a:xfrm>
            <a:off x="4389120" y="41605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400" b="1" noProof="0" dirty="0">
                <a:solidFill>
                  <a:srgbClr val="1E40AF"/>
                </a:solidFill>
              </a:rPr>
              <a:t>麗澤大学　2026年</a:t>
            </a:r>
            <a:r>
              <a:rPr lang="en-US" altLang="ja-JP" sz="1400" b="1" noProof="0" dirty="0">
                <a:solidFill>
                  <a:srgbClr val="1E40AF"/>
                </a:solidFill>
              </a:rPr>
              <a:t>8</a:t>
            </a:r>
            <a:r>
              <a:rPr lang="ja-JP" altLang="en-US" sz="1400" b="1" noProof="0" dirty="0">
                <a:solidFill>
                  <a:srgbClr val="1E40AF"/>
                </a:solidFill>
              </a:rPr>
              <a:t>月</a:t>
            </a:r>
            <a:endParaRPr lang="ja-JP" sz="1400" noProof="0" dirty="0"/>
          </a:p>
        </p:txBody>
      </p:sp>
      <p:sp>
        <p:nvSpPr>
          <p:cNvPr id="20" name="Shape 16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90458EA-CB52-A980-E94F-49CD3DAA39EF}"/>
              </a:ext>
            </a:extLst>
          </p:cNvPr>
          <p:cNvSpPr/>
          <p:nvPr/>
        </p:nvSpPr>
        <p:spPr>
          <a:xfrm>
            <a:off x="769620" y="1571625"/>
            <a:ext cx="3032760" cy="1291590"/>
          </a:xfrm>
          <a:prstGeom prst="roundRect">
            <a:avLst>
              <a:gd name="adj" fmla="val 24929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　次</a:t>
            </a:r>
            <a:endParaRPr lang="ja-JP" sz="230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530352" cy="7498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1097280"/>
            <a:ext cx="5303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400" b="1" noProof="0" dirty="0">
                <a:solidFill>
                  <a:srgbClr val="FFFFFF"/>
                </a:solidFill>
              </a:rPr>
              <a:t>01</a:t>
            </a:r>
            <a:endParaRPr lang="ja-JP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978408" y="11612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b="1" noProof="0" dirty="0">
                <a:solidFill>
                  <a:srgbClr val="1E40AF"/>
                </a:solidFill>
              </a:rPr>
              <a:t>CodeWidget とは？</a:t>
            </a:r>
            <a:endParaRPr lang="ja-JP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978408" y="14996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64748B"/>
                </a:solidFill>
              </a:rPr>
              <a:t>機能概要と導入背景</a:t>
            </a:r>
            <a:endParaRPr lang="ja-JP" sz="1200" b="1" noProof="0" dirty="0"/>
          </a:p>
        </p:txBody>
      </p:sp>
      <p:sp>
        <p:nvSpPr>
          <p:cNvPr id="9" name="Shape 7"/>
          <p:cNvSpPr/>
          <p:nvPr/>
        </p:nvSpPr>
        <p:spPr>
          <a:xfrm>
            <a:off x="320040" y="201168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0" name="Shape 8"/>
          <p:cNvSpPr/>
          <p:nvPr/>
        </p:nvSpPr>
        <p:spPr>
          <a:xfrm>
            <a:off x="320040" y="2011680"/>
            <a:ext cx="530352" cy="7498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1" name="Text 9"/>
          <p:cNvSpPr/>
          <p:nvPr/>
        </p:nvSpPr>
        <p:spPr>
          <a:xfrm>
            <a:off x="320040" y="2011680"/>
            <a:ext cx="5303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400" b="1" noProof="0" dirty="0">
                <a:solidFill>
                  <a:srgbClr val="FFFFFF"/>
                </a:solidFill>
              </a:rPr>
              <a:t>02</a:t>
            </a:r>
            <a:endParaRPr lang="ja-JP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978408" y="20756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b="1" noProof="0" dirty="0">
                <a:solidFill>
                  <a:srgbClr val="1E40AF"/>
                </a:solidFill>
              </a:rPr>
              <a:t>クイックスタート</a:t>
            </a:r>
            <a:endParaRPr lang="ja-JP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978408" y="24140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64748B"/>
                </a:solidFill>
              </a:rPr>
              <a:t>初回起動と基本設定</a:t>
            </a:r>
            <a:endParaRPr lang="ja-JP" sz="1200" b="1" noProof="0" dirty="0"/>
          </a:p>
        </p:txBody>
      </p:sp>
      <p:sp>
        <p:nvSpPr>
          <p:cNvPr id="14" name="Shape 12"/>
          <p:cNvSpPr/>
          <p:nvPr/>
        </p:nvSpPr>
        <p:spPr>
          <a:xfrm>
            <a:off x="320040" y="292608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5" name="Shape 13"/>
          <p:cNvSpPr/>
          <p:nvPr/>
        </p:nvSpPr>
        <p:spPr>
          <a:xfrm>
            <a:off x="320040" y="2926080"/>
            <a:ext cx="530352" cy="7498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6" name="Text 14"/>
          <p:cNvSpPr/>
          <p:nvPr/>
        </p:nvSpPr>
        <p:spPr>
          <a:xfrm>
            <a:off x="320040" y="2926080"/>
            <a:ext cx="5303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400" b="1" noProof="0" dirty="0">
                <a:solidFill>
                  <a:srgbClr val="FFFFFF"/>
                </a:solidFill>
              </a:rPr>
              <a:t>03</a:t>
            </a:r>
            <a:endParaRPr lang="ja-JP" sz="1400" noProof="0" dirty="0"/>
          </a:p>
        </p:txBody>
      </p:sp>
      <p:sp>
        <p:nvSpPr>
          <p:cNvPr id="17" name="Text 15"/>
          <p:cNvSpPr/>
          <p:nvPr/>
        </p:nvSpPr>
        <p:spPr>
          <a:xfrm>
            <a:off x="978408" y="29900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b="1" noProof="0" dirty="0">
                <a:solidFill>
                  <a:srgbClr val="1E40AF"/>
                </a:solidFill>
              </a:rPr>
              <a:t>授業の管理</a:t>
            </a:r>
            <a:endParaRPr lang="ja-JP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978408" y="33284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64748B"/>
                </a:solidFill>
              </a:rPr>
              <a:t>授業の追加・編集・削除</a:t>
            </a:r>
            <a:endParaRPr lang="ja-JP" sz="1200" b="1" noProof="0" dirty="0"/>
          </a:p>
        </p:txBody>
      </p:sp>
      <p:sp>
        <p:nvSpPr>
          <p:cNvPr id="19" name="Shape 17"/>
          <p:cNvSpPr/>
          <p:nvPr/>
        </p:nvSpPr>
        <p:spPr>
          <a:xfrm>
            <a:off x="320040" y="384048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20" name="Shape 18"/>
          <p:cNvSpPr/>
          <p:nvPr/>
        </p:nvSpPr>
        <p:spPr>
          <a:xfrm>
            <a:off x="320040" y="3840480"/>
            <a:ext cx="530352" cy="7498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1" name="Text 19"/>
          <p:cNvSpPr/>
          <p:nvPr/>
        </p:nvSpPr>
        <p:spPr>
          <a:xfrm>
            <a:off x="320040" y="3840480"/>
            <a:ext cx="5303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400" b="1" noProof="0" dirty="0">
                <a:solidFill>
                  <a:srgbClr val="FFFFFF"/>
                </a:solidFill>
              </a:rPr>
              <a:t>04</a:t>
            </a:r>
            <a:endParaRPr lang="ja-JP" sz="1400" noProof="0" dirty="0"/>
          </a:p>
        </p:txBody>
      </p:sp>
      <p:sp>
        <p:nvSpPr>
          <p:cNvPr id="22" name="Text 20"/>
          <p:cNvSpPr/>
          <p:nvPr/>
        </p:nvSpPr>
        <p:spPr>
          <a:xfrm>
            <a:off x="978408" y="39044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b="1" noProof="0" dirty="0">
                <a:solidFill>
                  <a:srgbClr val="1E40AF"/>
                </a:solidFill>
              </a:rPr>
              <a:t>出席コードの操作</a:t>
            </a:r>
            <a:endParaRPr lang="ja-JP" sz="1300" noProof="0" dirty="0"/>
          </a:p>
        </p:txBody>
      </p:sp>
      <p:sp>
        <p:nvSpPr>
          <p:cNvPr id="23" name="Text 21"/>
          <p:cNvSpPr/>
          <p:nvPr/>
        </p:nvSpPr>
        <p:spPr>
          <a:xfrm>
            <a:off x="978408" y="42428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64748B"/>
                </a:solidFill>
              </a:rPr>
              <a:t>表示・入力・管理</a:t>
            </a:r>
            <a:endParaRPr lang="ja-JP" sz="1200" b="1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109728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1097280"/>
            <a:ext cx="530352" cy="74980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6" name="Text 24"/>
          <p:cNvSpPr/>
          <p:nvPr/>
        </p:nvSpPr>
        <p:spPr>
          <a:xfrm>
            <a:off x="4754880" y="1097280"/>
            <a:ext cx="5303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400" b="1" noProof="0" dirty="0">
                <a:solidFill>
                  <a:srgbClr val="FFFFFF"/>
                </a:solidFill>
              </a:rPr>
              <a:t>05</a:t>
            </a:r>
            <a:endParaRPr lang="ja-JP" sz="1400" noProof="0" dirty="0"/>
          </a:p>
        </p:txBody>
      </p:sp>
      <p:sp>
        <p:nvSpPr>
          <p:cNvPr id="27" name="Text 25"/>
          <p:cNvSpPr/>
          <p:nvPr/>
        </p:nvSpPr>
        <p:spPr>
          <a:xfrm>
            <a:off x="5413248" y="11612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b="1" noProof="0" dirty="0">
                <a:solidFill>
                  <a:srgbClr val="1E40AF"/>
                </a:solidFill>
              </a:rPr>
              <a:t>授業の振替（調整）</a:t>
            </a:r>
            <a:endParaRPr lang="ja-JP" sz="1300" noProof="0" dirty="0"/>
          </a:p>
        </p:txBody>
      </p:sp>
      <p:sp>
        <p:nvSpPr>
          <p:cNvPr id="28" name="Text 26"/>
          <p:cNvSpPr/>
          <p:nvPr/>
        </p:nvSpPr>
        <p:spPr>
          <a:xfrm>
            <a:off x="5413248" y="14996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64748B"/>
                </a:solidFill>
              </a:rPr>
              <a:t>振替授業の登録方法</a:t>
            </a:r>
            <a:endParaRPr lang="ja-JP" sz="1200" b="1" noProof="0" dirty="0"/>
          </a:p>
        </p:txBody>
      </p:sp>
      <p:sp>
        <p:nvSpPr>
          <p:cNvPr id="29" name="Shape 27"/>
          <p:cNvSpPr/>
          <p:nvPr/>
        </p:nvSpPr>
        <p:spPr>
          <a:xfrm>
            <a:off x="4754880" y="201168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30" name="Shape 28"/>
          <p:cNvSpPr/>
          <p:nvPr/>
        </p:nvSpPr>
        <p:spPr>
          <a:xfrm>
            <a:off x="4754880" y="2011680"/>
            <a:ext cx="530352" cy="74980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1" name="Text 29"/>
          <p:cNvSpPr/>
          <p:nvPr/>
        </p:nvSpPr>
        <p:spPr>
          <a:xfrm>
            <a:off x="4754880" y="2011680"/>
            <a:ext cx="5303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400" b="1" noProof="0" dirty="0">
                <a:solidFill>
                  <a:srgbClr val="FFFFFF"/>
                </a:solidFill>
              </a:rPr>
              <a:t>06</a:t>
            </a:r>
            <a:endParaRPr lang="ja-JP" sz="1400" noProof="0" dirty="0"/>
          </a:p>
        </p:txBody>
      </p:sp>
      <p:sp>
        <p:nvSpPr>
          <p:cNvPr id="32" name="Text 30"/>
          <p:cNvSpPr/>
          <p:nvPr/>
        </p:nvSpPr>
        <p:spPr>
          <a:xfrm>
            <a:off x="5413248" y="20756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b="1" noProof="0" dirty="0">
                <a:solidFill>
                  <a:srgbClr val="1E40AF"/>
                </a:solidFill>
              </a:rPr>
              <a:t>外観設定</a:t>
            </a:r>
            <a:endParaRPr lang="ja-JP" sz="1300" noProof="0" dirty="0"/>
          </a:p>
        </p:txBody>
      </p:sp>
      <p:sp>
        <p:nvSpPr>
          <p:cNvPr id="33" name="Text 31"/>
          <p:cNvSpPr/>
          <p:nvPr/>
        </p:nvSpPr>
        <p:spPr>
          <a:xfrm>
            <a:off x="5413248" y="24140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64748B"/>
                </a:solidFill>
              </a:rPr>
              <a:t>フォント・色・ウィンドウサイズ</a:t>
            </a:r>
            <a:endParaRPr lang="ja-JP" sz="1200" b="1" noProof="0" dirty="0"/>
          </a:p>
        </p:txBody>
      </p:sp>
      <p:sp>
        <p:nvSpPr>
          <p:cNvPr id="34" name="Shape 32"/>
          <p:cNvSpPr/>
          <p:nvPr/>
        </p:nvSpPr>
        <p:spPr>
          <a:xfrm>
            <a:off x="4754880" y="292608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35" name="Shape 33"/>
          <p:cNvSpPr/>
          <p:nvPr/>
        </p:nvSpPr>
        <p:spPr>
          <a:xfrm>
            <a:off x="4754880" y="2926080"/>
            <a:ext cx="530352" cy="74980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6" name="Text 34"/>
          <p:cNvSpPr/>
          <p:nvPr/>
        </p:nvSpPr>
        <p:spPr>
          <a:xfrm>
            <a:off x="4754880" y="2926080"/>
            <a:ext cx="5303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400" b="1" noProof="0" dirty="0">
                <a:solidFill>
                  <a:srgbClr val="FFFFFF"/>
                </a:solidFill>
              </a:rPr>
              <a:t>07</a:t>
            </a:r>
            <a:endParaRPr lang="ja-JP" sz="1400" noProof="0" dirty="0"/>
          </a:p>
        </p:txBody>
      </p:sp>
      <p:sp>
        <p:nvSpPr>
          <p:cNvPr id="37" name="Text 35"/>
          <p:cNvSpPr/>
          <p:nvPr/>
        </p:nvSpPr>
        <p:spPr>
          <a:xfrm>
            <a:off x="5413248" y="29900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b="1" noProof="0" dirty="0">
                <a:solidFill>
                  <a:srgbClr val="1E40AF"/>
                </a:solidFill>
              </a:rPr>
              <a:t>よくある質問</a:t>
            </a:r>
            <a:endParaRPr lang="ja-JP" sz="1300" noProof="0" dirty="0"/>
          </a:p>
        </p:txBody>
      </p:sp>
      <p:sp>
        <p:nvSpPr>
          <p:cNvPr id="38" name="Text 36"/>
          <p:cNvSpPr/>
          <p:nvPr/>
        </p:nvSpPr>
        <p:spPr>
          <a:xfrm>
            <a:off x="5413248" y="3328416"/>
            <a:ext cx="3429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64748B"/>
                </a:solidFill>
              </a:rPr>
              <a:t>FAQ とトラブルシューティング</a:t>
            </a:r>
            <a:endParaRPr lang="ja-JP" sz="1200" b="1" noProof="0" dirty="0"/>
          </a:p>
        </p:txBody>
      </p:sp>
      <p:sp>
        <p:nvSpPr>
          <p:cNvPr id="39" name="Shape 3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40" name="Text 38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CodeWidget とは？</a:t>
            </a:r>
            <a:endParaRPr lang="ja-JP" sz="2300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960120"/>
            <a:ext cx="3017520" cy="1380744"/>
          </a:xfrm>
          <a:prstGeom prst="rect">
            <a:avLst/>
          </a:prstGeom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06440" y="2386584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i="1" noProof="0" dirty="0">
                <a:solidFill>
                  <a:srgbClr val="64748B"/>
                </a:solidFill>
              </a:rPr>
              <a:t>実際の表示画面</a:t>
            </a:r>
            <a:endParaRPr lang="ja-JP" sz="950" noProof="0" dirty="0"/>
          </a:p>
        </p:txBody>
      </p:sp>
      <p:sp>
        <p:nvSpPr>
          <p:cNvPr id="6" name="Shape 3"/>
          <p:cNvSpPr/>
          <p:nvPr/>
        </p:nvSpPr>
        <p:spPr>
          <a:xfrm>
            <a:off x="365760" y="960120"/>
            <a:ext cx="5166360" cy="1389888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7" name="Shape 4"/>
          <p:cNvSpPr/>
          <p:nvPr/>
        </p:nvSpPr>
        <p:spPr>
          <a:xfrm>
            <a:off x="365760" y="960120"/>
            <a:ext cx="64008" cy="138988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4846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b="1" noProof="0" dirty="0">
                <a:solidFill>
                  <a:srgbClr val="1E40AF"/>
                </a:solidFill>
              </a:rPr>
              <a:t>現状の課題</a:t>
            </a:r>
            <a:endParaRPr lang="ja-JP" sz="1300" noProof="0" dirty="0"/>
          </a:p>
        </p:txBody>
      </p:sp>
      <p:sp>
        <p:nvSpPr>
          <p:cNvPr id="9" name="Text 6"/>
          <p:cNvSpPr/>
          <p:nvPr/>
        </p:nvSpPr>
        <p:spPr>
          <a:xfrm>
            <a:off x="548640" y="1344168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noProof="0" dirty="0">
                <a:solidFill>
                  <a:srgbClr val="1E293B"/>
                </a:solidFill>
              </a:rPr>
              <a:t>・手動での提示のため、表示忘れや操作ミスが発生しやすい</a:t>
            </a:r>
            <a:endParaRPr lang="ja-JP" sz="1300" noProof="0" dirty="0"/>
          </a:p>
          <a:p>
            <a:pPr marL="0" indent="0">
              <a:buNone/>
            </a:pPr>
            <a:r>
              <a:rPr lang="ja-JP" sz="1300" noProof="0" dirty="0">
                <a:solidFill>
                  <a:srgbClr val="1E293B"/>
                </a:solidFill>
              </a:rPr>
              <a:t>・方法が教員によって異なり、統一されていない</a:t>
            </a:r>
            <a:endParaRPr lang="ja-JP" sz="1300" noProof="0" dirty="0"/>
          </a:p>
          <a:p>
            <a:pPr marL="0" indent="0">
              <a:buNone/>
            </a:pPr>
            <a:r>
              <a:rPr lang="ja-JP" sz="1300" noProof="0" dirty="0">
                <a:solidFill>
                  <a:srgbClr val="1E293B"/>
                </a:solidFill>
              </a:rPr>
              <a:t>・通常のウィンドウは投影中に隠れてしまう場合がある</a:t>
            </a:r>
            <a:endParaRPr lang="ja-JP" sz="1300" noProof="0" dirty="0"/>
          </a:p>
        </p:txBody>
      </p:sp>
      <p:sp>
        <p:nvSpPr>
          <p:cNvPr id="10" name="Shape 7"/>
          <p:cNvSpPr/>
          <p:nvPr/>
        </p:nvSpPr>
        <p:spPr>
          <a:xfrm>
            <a:off x="365760" y="2487168"/>
            <a:ext cx="5166360" cy="1389888"/>
          </a:xfrm>
          <a:prstGeom prst="rect">
            <a:avLst/>
          </a:prstGeom>
          <a:solidFill>
            <a:srgbClr val="DBEAFE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1" name="Shape 8"/>
          <p:cNvSpPr/>
          <p:nvPr/>
        </p:nvSpPr>
        <p:spPr>
          <a:xfrm>
            <a:off x="365760" y="2487168"/>
            <a:ext cx="64008" cy="13898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2" name="Text 9"/>
          <p:cNvSpPr/>
          <p:nvPr/>
        </p:nvSpPr>
        <p:spPr>
          <a:xfrm>
            <a:off x="548640" y="2532888"/>
            <a:ext cx="4892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b="1" noProof="0" dirty="0">
                <a:solidFill>
                  <a:srgbClr val="1E40AF"/>
                </a:solidFill>
              </a:rPr>
              <a:t>✓  CodeWidget の解決策</a:t>
            </a:r>
            <a:endParaRPr lang="ja-JP" sz="1300" noProof="0" dirty="0"/>
          </a:p>
        </p:txBody>
      </p:sp>
      <p:sp>
        <p:nvSpPr>
          <p:cNvPr id="13" name="Text 10"/>
          <p:cNvSpPr/>
          <p:nvPr/>
        </p:nvSpPr>
        <p:spPr>
          <a:xfrm>
            <a:off x="548640" y="2862072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00" noProof="0" dirty="0">
                <a:solidFill>
                  <a:srgbClr val="1E293B"/>
                </a:solidFill>
              </a:rPr>
              <a:t>・時間割に基づいて 自動的にポップアップ 表示</a:t>
            </a:r>
            <a:endParaRPr lang="ja-JP" sz="1300" noProof="0" dirty="0"/>
          </a:p>
          <a:p>
            <a:pPr marL="0" indent="0">
              <a:buNone/>
            </a:pPr>
            <a:r>
              <a:rPr lang="ja-JP" sz="1300" noProof="0" dirty="0">
                <a:solidFill>
                  <a:srgbClr val="1E293B"/>
                </a:solidFill>
              </a:rPr>
              <a:t>・常に最前面、ドラッグ可能。投影画面に最適化</a:t>
            </a:r>
            <a:endParaRPr lang="ja-JP" sz="1300" noProof="0" dirty="0"/>
          </a:p>
          <a:p>
            <a:pPr marL="0" indent="0">
              <a:buNone/>
            </a:pPr>
            <a:r>
              <a:rPr lang="ja-JP" sz="1300" noProof="0" dirty="0">
                <a:solidFill>
                  <a:srgbClr val="1E293B"/>
                </a:solidFill>
              </a:rPr>
              <a:t>・ワンクリックでコード生成、学期全体を一括管理</a:t>
            </a:r>
            <a:endParaRPr lang="ja-JP" sz="1300" noProof="0" dirty="0"/>
          </a:p>
        </p:txBody>
      </p:sp>
      <p:sp>
        <p:nvSpPr>
          <p:cNvPr id="14" name="Shape 11"/>
          <p:cNvSpPr/>
          <p:nvPr/>
        </p:nvSpPr>
        <p:spPr>
          <a:xfrm>
            <a:off x="5806440" y="2743200"/>
            <a:ext cx="960120" cy="731520"/>
          </a:xfrm>
          <a:prstGeom prst="rect">
            <a:avLst/>
          </a:prstGeom>
          <a:solidFill>
            <a:srgbClr val="DBEAFE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5" name="Text 12"/>
          <p:cNvSpPr/>
          <p:nvPr/>
        </p:nvSpPr>
        <p:spPr>
          <a:xfrm>
            <a:off x="5806440" y="277063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800" b="1" noProof="0" dirty="0">
                <a:solidFill>
                  <a:srgbClr val="1E40AF"/>
                </a:solidFill>
              </a:rPr>
              <a:t>30 秒</a:t>
            </a:r>
            <a:endParaRPr lang="ja-JP" sz="1800" noProof="0" dirty="0"/>
          </a:p>
        </p:txBody>
      </p:sp>
      <p:sp>
        <p:nvSpPr>
          <p:cNvPr id="16" name="Text 13"/>
          <p:cNvSpPr/>
          <p:nvPr/>
        </p:nvSpPr>
        <p:spPr>
          <a:xfrm>
            <a:off x="5737860" y="3154680"/>
            <a:ext cx="109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noProof="0" dirty="0">
                <a:solidFill>
                  <a:srgbClr val="64748B"/>
                </a:solidFill>
              </a:rPr>
              <a:t>ポーリング間隔</a:t>
            </a:r>
            <a:endParaRPr lang="ja-JP" sz="1000" noProof="0" dirty="0"/>
          </a:p>
        </p:txBody>
      </p:sp>
      <p:sp>
        <p:nvSpPr>
          <p:cNvPr id="17" name="Shape 14"/>
          <p:cNvSpPr/>
          <p:nvPr/>
        </p:nvSpPr>
        <p:spPr>
          <a:xfrm>
            <a:off x="6830568" y="2743200"/>
            <a:ext cx="960120" cy="731520"/>
          </a:xfrm>
          <a:prstGeom prst="rect">
            <a:avLst/>
          </a:prstGeom>
          <a:solidFill>
            <a:srgbClr val="DBEAFE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8" name="Text 15"/>
          <p:cNvSpPr/>
          <p:nvPr/>
        </p:nvSpPr>
        <p:spPr>
          <a:xfrm>
            <a:off x="6830568" y="277063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800" b="1" noProof="0" dirty="0">
                <a:solidFill>
                  <a:srgbClr val="1E40AF"/>
                </a:solidFill>
              </a:rPr>
              <a:t>14 回</a:t>
            </a:r>
            <a:endParaRPr lang="ja-JP" sz="1800" noProof="0" dirty="0"/>
          </a:p>
        </p:txBody>
      </p:sp>
      <p:sp>
        <p:nvSpPr>
          <p:cNvPr id="19" name="Text 16"/>
          <p:cNvSpPr/>
          <p:nvPr/>
        </p:nvSpPr>
        <p:spPr>
          <a:xfrm>
            <a:off x="6830568" y="31546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noProof="0" dirty="0">
                <a:solidFill>
                  <a:srgbClr val="64748B"/>
                </a:solidFill>
              </a:rPr>
              <a:t>授業回数</a:t>
            </a:r>
            <a:endParaRPr lang="ja-JP" sz="1000" noProof="0" dirty="0"/>
          </a:p>
        </p:txBody>
      </p:sp>
      <p:sp>
        <p:nvSpPr>
          <p:cNvPr id="20" name="Shape 17"/>
          <p:cNvSpPr/>
          <p:nvPr/>
        </p:nvSpPr>
        <p:spPr>
          <a:xfrm>
            <a:off x="7854696" y="2743200"/>
            <a:ext cx="960120" cy="731520"/>
          </a:xfrm>
          <a:prstGeom prst="rect">
            <a:avLst/>
          </a:prstGeom>
          <a:solidFill>
            <a:srgbClr val="DBEAFE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21" name="Text 18"/>
          <p:cNvSpPr/>
          <p:nvPr/>
        </p:nvSpPr>
        <p:spPr>
          <a:xfrm>
            <a:off x="7854696" y="277063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800" b="1" noProof="0" dirty="0">
                <a:solidFill>
                  <a:srgbClr val="1E40AF"/>
                </a:solidFill>
              </a:rPr>
              <a:t>4 桁</a:t>
            </a:r>
            <a:endParaRPr lang="ja-JP" sz="1800" noProof="0" dirty="0"/>
          </a:p>
        </p:txBody>
      </p:sp>
      <p:sp>
        <p:nvSpPr>
          <p:cNvPr id="22" name="Text 19"/>
          <p:cNvSpPr/>
          <p:nvPr/>
        </p:nvSpPr>
        <p:spPr>
          <a:xfrm>
            <a:off x="7854696" y="31546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noProof="0" dirty="0">
                <a:solidFill>
                  <a:srgbClr val="64748B"/>
                </a:solidFill>
              </a:rPr>
              <a:t>コード形式</a:t>
            </a:r>
            <a:endParaRPr lang="ja-JP" sz="1000" noProof="0" dirty="0"/>
          </a:p>
        </p:txBody>
      </p:sp>
      <p:sp>
        <p:nvSpPr>
          <p:cNvPr id="23" name="Shape 2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4" name="Text 21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25" name="Text 22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3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クイックスタート</a:t>
            </a:r>
            <a:endParaRPr lang="ja-JP" sz="230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251960" cy="1627632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5" name="Shape 3"/>
          <p:cNvSpPr/>
          <p:nvPr/>
        </p:nvSpPr>
        <p:spPr>
          <a:xfrm>
            <a:off x="466344" y="1106424"/>
            <a:ext cx="493776" cy="49377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6" name="Text 4"/>
          <p:cNvSpPr/>
          <p:nvPr/>
        </p:nvSpPr>
        <p:spPr>
          <a:xfrm>
            <a:off x="466344" y="110642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500" b="1" noProof="0" dirty="0">
                <a:solidFill>
                  <a:srgbClr val="FFFFFF"/>
                </a:solidFill>
              </a:rPr>
              <a:t>1</a:t>
            </a:r>
            <a:endParaRPr lang="ja-JP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1088136" y="1124712"/>
            <a:ext cx="36210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b="1" noProof="0" dirty="0">
                <a:solidFill>
                  <a:srgbClr val="1E40AF"/>
                </a:solidFill>
              </a:rPr>
              <a:t>config フォルダをプログラムと同じ場所に置く</a:t>
            </a:r>
            <a:endParaRPr lang="ja-JP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521208" y="1618488"/>
            <a:ext cx="3749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>
                <a:solidFill>
                  <a:srgbClr val="1E293B"/>
                </a:solidFill>
              </a:rPr>
              <a:t>school_config.json（学校共通）と teacher_config.json（個人）が必要です。初回起動時に自動作成されます。</a:t>
            </a:r>
            <a:endParaRPr lang="ja-JP" sz="1200" noProof="0" dirty="0"/>
          </a:p>
        </p:txBody>
      </p:sp>
      <p:sp>
        <p:nvSpPr>
          <p:cNvPr id="9" name="Shape 7"/>
          <p:cNvSpPr/>
          <p:nvPr/>
        </p:nvSpPr>
        <p:spPr>
          <a:xfrm>
            <a:off x="320040" y="2788920"/>
            <a:ext cx="4251960" cy="1627632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0" name="Shape 8"/>
          <p:cNvSpPr/>
          <p:nvPr/>
        </p:nvSpPr>
        <p:spPr>
          <a:xfrm>
            <a:off x="466344" y="2935224"/>
            <a:ext cx="493776" cy="49377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1" name="Text 9"/>
          <p:cNvSpPr/>
          <p:nvPr/>
        </p:nvSpPr>
        <p:spPr>
          <a:xfrm>
            <a:off x="466344" y="293522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500" b="1" noProof="0" dirty="0">
                <a:solidFill>
                  <a:srgbClr val="FFFFFF"/>
                </a:solidFill>
              </a:rPr>
              <a:t>2</a:t>
            </a:r>
            <a:endParaRPr lang="ja-JP" sz="1500" noProof="0" dirty="0"/>
          </a:p>
        </p:txBody>
      </p:sp>
      <p:sp>
        <p:nvSpPr>
          <p:cNvPr id="12" name="Text 10"/>
          <p:cNvSpPr/>
          <p:nvPr/>
        </p:nvSpPr>
        <p:spPr>
          <a:xfrm>
            <a:off x="1088136" y="2953512"/>
            <a:ext cx="32186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b="1" noProof="0" dirty="0">
                <a:solidFill>
                  <a:srgbClr val="1E40AF"/>
                </a:solidFill>
              </a:rPr>
              <a:t>プログラムをダブルクリックして起動</a:t>
            </a:r>
            <a:endParaRPr lang="ja-JP" sz="1250" noProof="0" dirty="0"/>
          </a:p>
        </p:txBody>
      </p:sp>
      <p:sp>
        <p:nvSpPr>
          <p:cNvPr id="13" name="Text 11"/>
          <p:cNvSpPr/>
          <p:nvPr/>
        </p:nvSpPr>
        <p:spPr>
          <a:xfrm>
            <a:off x="521208" y="3447288"/>
            <a:ext cx="2978991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>
                <a:solidFill>
                  <a:srgbClr val="1E293B"/>
                </a:solidFill>
              </a:rPr>
              <a:t>Windows: CodeWidget.exe  </a:t>
            </a:r>
          </a:p>
          <a:p>
            <a:pPr marL="0" indent="0">
              <a:buNone/>
            </a:pPr>
            <a:r>
              <a:rPr lang="ja-JP" sz="1200" noProof="0" dirty="0">
                <a:solidFill>
                  <a:srgbClr val="1E293B"/>
                </a:solidFill>
              </a:rPr>
              <a:t>macOS: CodeWidget.app</a:t>
            </a:r>
            <a:endParaRPr lang="ja-JP" sz="1200" noProof="0" dirty="0"/>
          </a:p>
          <a:p>
            <a:pPr marL="0" indent="0">
              <a:buNone/>
            </a:pPr>
            <a:r>
              <a:rPr lang="ja-JP" sz="1200" noProof="0" dirty="0">
                <a:solidFill>
                  <a:srgbClr val="1E293B"/>
                </a:solidFill>
              </a:rPr>
              <a:t>起動後、システムトレイ（タスクバー右下 / メニューバー）にアイコンが表示されます。</a:t>
            </a:r>
            <a:endParaRPr lang="ja-JP" sz="1200" noProof="0" dirty="0"/>
          </a:p>
        </p:txBody>
      </p:sp>
      <p:sp>
        <p:nvSpPr>
          <p:cNvPr id="14" name="Shape 12"/>
          <p:cNvSpPr/>
          <p:nvPr/>
        </p:nvSpPr>
        <p:spPr>
          <a:xfrm>
            <a:off x="4754880" y="960120"/>
            <a:ext cx="4114800" cy="1627632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5" name="Shape 13"/>
          <p:cNvSpPr/>
          <p:nvPr/>
        </p:nvSpPr>
        <p:spPr>
          <a:xfrm>
            <a:off x="4901184" y="1106424"/>
            <a:ext cx="493776" cy="49377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6" name="Text 14"/>
          <p:cNvSpPr/>
          <p:nvPr/>
        </p:nvSpPr>
        <p:spPr>
          <a:xfrm>
            <a:off x="4901184" y="110642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500" b="1" noProof="0" dirty="0">
                <a:solidFill>
                  <a:srgbClr val="FFFFFF"/>
                </a:solidFill>
              </a:rPr>
              <a:t>3</a:t>
            </a:r>
            <a:endParaRPr lang="ja-JP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5522976" y="1124712"/>
            <a:ext cx="32186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b="1" noProof="0" dirty="0">
                <a:solidFill>
                  <a:srgbClr val="1E40AF"/>
                </a:solidFill>
              </a:rPr>
              <a:t>トレイアイコンを右クリック → 「設定…」</a:t>
            </a:r>
            <a:endParaRPr lang="ja-JP" sz="1250" noProof="0" dirty="0"/>
          </a:p>
        </p:txBody>
      </p:sp>
      <p:sp>
        <p:nvSpPr>
          <p:cNvPr id="18" name="Text 16"/>
          <p:cNvSpPr/>
          <p:nvPr/>
        </p:nvSpPr>
        <p:spPr>
          <a:xfrm>
            <a:off x="4956048" y="1618488"/>
            <a:ext cx="3749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>
                <a:solidFill>
                  <a:srgbClr val="1E293B"/>
                </a:solidFill>
              </a:rPr>
              <a:t>「授業」タブで授業を追加してください。授業名・曜日・時限を設定します。</a:t>
            </a:r>
            <a:endParaRPr lang="ja-JP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4754880" y="2788920"/>
            <a:ext cx="4114800" cy="1627632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20" name="Shape 18"/>
          <p:cNvSpPr/>
          <p:nvPr/>
        </p:nvSpPr>
        <p:spPr>
          <a:xfrm>
            <a:off x="4901184" y="2935224"/>
            <a:ext cx="493776" cy="49377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1" name="Text 19"/>
          <p:cNvSpPr/>
          <p:nvPr/>
        </p:nvSpPr>
        <p:spPr>
          <a:xfrm>
            <a:off x="4901184" y="293522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500" b="1" noProof="0" dirty="0">
                <a:solidFill>
                  <a:srgbClr val="FFFFFF"/>
                </a:solidFill>
              </a:rPr>
              <a:t>4</a:t>
            </a:r>
            <a:endParaRPr lang="ja-JP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5522976" y="2953512"/>
            <a:ext cx="32186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b="1" noProof="0" dirty="0">
                <a:solidFill>
                  <a:srgbClr val="1E40AF"/>
                </a:solidFill>
              </a:rPr>
              <a:t>授業時間になると自動でポップアップ表示</a:t>
            </a:r>
            <a:endParaRPr lang="ja-JP" sz="1250" noProof="0" dirty="0"/>
          </a:p>
        </p:txBody>
      </p:sp>
      <p:sp>
        <p:nvSpPr>
          <p:cNvPr id="23" name="Text 21"/>
          <p:cNvSpPr/>
          <p:nvPr/>
        </p:nvSpPr>
        <p:spPr>
          <a:xfrm>
            <a:off x="4956048" y="3447288"/>
            <a:ext cx="3749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>
                <a:solidFill>
                  <a:srgbClr val="1E293B"/>
                </a:solidFill>
              </a:rPr>
              <a:t>授業開始の10分前に、ウィンドウが自動的に表示されます。</a:t>
            </a:r>
            <a:endParaRPr lang="ja-JP" sz="1200" noProof="0" dirty="0"/>
          </a:p>
        </p:txBody>
      </p:sp>
      <p:sp>
        <p:nvSpPr>
          <p:cNvPr id="25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6" name="Text 23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27" name="Text 24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4</a:t>
            </a:r>
            <a:endParaRPr lang="ja-JP" sz="900" noProof="0" dirty="0"/>
          </a:p>
        </p:txBody>
      </p:sp>
      <p:pic>
        <p:nvPicPr>
          <p:cNvPr id="29" name="图片 28" descr="图标&#10;&#10;AI 生成的内容可能不正确。">
            <a:extLst>
              <a:ext uri="{FF2B5EF4-FFF2-40B4-BE49-F238E27FC236}">
                <a16:creationId xmlns:a16="http://schemas.microsoft.com/office/drawing/2014/main" id="{3A031AC4-40F9-74A2-5F8C-3CC7A6D63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038" y="3639312"/>
            <a:ext cx="464963" cy="4649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クイックスタート — 時限・時間割</a:t>
            </a:r>
            <a:endParaRPr lang="ja-JP" sz="23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noProof="0" dirty="0">
                <a:solidFill>
                  <a:srgbClr val="1E293B"/>
                </a:solidFill>
              </a:rPr>
              <a:t>1日 6 時限が固定されています。授業開始 10 分前にウィンドウが自動表示されます：</a:t>
            </a:r>
            <a:endParaRPr lang="ja-JP" sz="1250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051560" cy="40233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1389888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ctr">
              <a:buNone/>
            </a:pPr>
            <a:r>
              <a:rPr lang="ja-JP" sz="1150" b="1" noProof="0" dirty="0">
                <a:solidFill>
                  <a:srgbClr val="FFFFFF"/>
                </a:solidFill>
              </a:rPr>
              <a:t>時限</a:t>
            </a:r>
            <a:endParaRPr lang="ja-JP" sz="1150" noProof="0" dirty="0"/>
          </a:p>
        </p:txBody>
      </p:sp>
      <p:sp>
        <p:nvSpPr>
          <p:cNvPr id="7" name="Shape 5"/>
          <p:cNvSpPr/>
          <p:nvPr/>
        </p:nvSpPr>
        <p:spPr>
          <a:xfrm>
            <a:off x="1508760" y="1389888"/>
            <a:ext cx="1051560" cy="40233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8" name="Text 6"/>
          <p:cNvSpPr/>
          <p:nvPr/>
        </p:nvSpPr>
        <p:spPr>
          <a:xfrm>
            <a:off x="1508760" y="1389888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ctr">
              <a:buNone/>
            </a:pPr>
            <a:r>
              <a:rPr lang="ja-JP" sz="1150" b="1" noProof="0" dirty="0">
                <a:solidFill>
                  <a:srgbClr val="FFFFFF"/>
                </a:solidFill>
              </a:rPr>
              <a:t>開始</a:t>
            </a:r>
            <a:endParaRPr lang="ja-JP" sz="1150" noProof="0" dirty="0"/>
          </a:p>
        </p:txBody>
      </p:sp>
      <p:sp>
        <p:nvSpPr>
          <p:cNvPr id="9" name="Shape 7"/>
          <p:cNvSpPr/>
          <p:nvPr/>
        </p:nvSpPr>
        <p:spPr>
          <a:xfrm>
            <a:off x="2560320" y="1389888"/>
            <a:ext cx="1051560" cy="40233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0" name="Text 8"/>
          <p:cNvSpPr/>
          <p:nvPr/>
        </p:nvSpPr>
        <p:spPr>
          <a:xfrm>
            <a:off x="2560320" y="1389888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ctr">
              <a:buNone/>
            </a:pPr>
            <a:r>
              <a:rPr lang="ja-JP" sz="1150" b="1" noProof="0" dirty="0">
                <a:solidFill>
                  <a:srgbClr val="FFFFFF"/>
                </a:solidFill>
              </a:rPr>
              <a:t>終了</a:t>
            </a:r>
            <a:endParaRPr lang="ja-JP" sz="1150" noProof="0" dirty="0"/>
          </a:p>
        </p:txBody>
      </p:sp>
      <p:sp>
        <p:nvSpPr>
          <p:cNvPr id="11" name="Shape 9"/>
          <p:cNvSpPr/>
          <p:nvPr/>
        </p:nvSpPr>
        <p:spPr>
          <a:xfrm>
            <a:off x="3611880" y="1389888"/>
            <a:ext cx="5166360" cy="40233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2" name="Text 10"/>
          <p:cNvSpPr/>
          <p:nvPr/>
        </p:nvSpPr>
        <p:spPr>
          <a:xfrm>
            <a:off x="3611880" y="1389888"/>
            <a:ext cx="51663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b="1" noProof="0" dirty="0">
                <a:solidFill>
                  <a:srgbClr val="FFFFFF"/>
                </a:solidFill>
              </a:rPr>
              <a:t>表示ウィンドウ期間（デフォルト）</a:t>
            </a:r>
            <a:endParaRPr lang="ja-JP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457200" y="1792224"/>
            <a:ext cx="10515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4" name="Text 12"/>
          <p:cNvSpPr/>
          <p:nvPr/>
        </p:nvSpPr>
        <p:spPr>
          <a:xfrm>
            <a:off x="457200" y="1792224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ctr">
              <a:buNone/>
            </a:pPr>
            <a:r>
              <a:rPr lang="ja-JP" sz="1150" b="1" noProof="0" dirty="0">
                <a:solidFill>
                  <a:srgbClr val="1E293B"/>
                </a:solidFill>
              </a:rPr>
              <a:t>1限</a:t>
            </a:r>
            <a:endParaRPr lang="ja-JP" sz="1150" noProof="0" dirty="0"/>
          </a:p>
        </p:txBody>
      </p:sp>
      <p:sp>
        <p:nvSpPr>
          <p:cNvPr id="15" name="Shape 13"/>
          <p:cNvSpPr/>
          <p:nvPr/>
        </p:nvSpPr>
        <p:spPr>
          <a:xfrm>
            <a:off x="1508760" y="1792224"/>
            <a:ext cx="10515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6" name="Text 14"/>
          <p:cNvSpPr/>
          <p:nvPr/>
        </p:nvSpPr>
        <p:spPr>
          <a:xfrm>
            <a:off x="1508760" y="1792224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08:50</a:t>
            </a:r>
            <a:endParaRPr lang="ja-JP" sz="1150" noProof="0" dirty="0"/>
          </a:p>
        </p:txBody>
      </p:sp>
      <p:sp>
        <p:nvSpPr>
          <p:cNvPr id="17" name="Shape 15"/>
          <p:cNvSpPr/>
          <p:nvPr/>
        </p:nvSpPr>
        <p:spPr>
          <a:xfrm>
            <a:off x="2560320" y="1792224"/>
            <a:ext cx="10515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8" name="Text 16"/>
          <p:cNvSpPr/>
          <p:nvPr/>
        </p:nvSpPr>
        <p:spPr>
          <a:xfrm>
            <a:off x="2560320" y="1792224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10:30</a:t>
            </a:r>
            <a:endParaRPr lang="ja-JP" sz="1150" noProof="0" dirty="0"/>
          </a:p>
        </p:txBody>
      </p:sp>
      <p:sp>
        <p:nvSpPr>
          <p:cNvPr id="19" name="Shape 17"/>
          <p:cNvSpPr/>
          <p:nvPr/>
        </p:nvSpPr>
        <p:spPr>
          <a:xfrm>
            <a:off x="3611880" y="1792224"/>
            <a:ext cx="51663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0" name="Text 18"/>
          <p:cNvSpPr/>
          <p:nvPr/>
        </p:nvSpPr>
        <p:spPr>
          <a:xfrm>
            <a:off x="3611880" y="1792224"/>
            <a:ext cx="51663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3B82F6"/>
                </a:solidFill>
              </a:rPr>
              <a:t>08:40 〜 09:20 　</a:t>
            </a:r>
            <a:endParaRPr lang="ja-JP" sz="1150" noProof="0" dirty="0"/>
          </a:p>
        </p:txBody>
      </p:sp>
      <p:sp>
        <p:nvSpPr>
          <p:cNvPr id="21" name="Shape 19"/>
          <p:cNvSpPr/>
          <p:nvPr/>
        </p:nvSpPr>
        <p:spPr>
          <a:xfrm>
            <a:off x="457200" y="2194560"/>
            <a:ext cx="10515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2" name="Text 20"/>
          <p:cNvSpPr/>
          <p:nvPr/>
        </p:nvSpPr>
        <p:spPr>
          <a:xfrm>
            <a:off x="457200" y="2194560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ctr">
              <a:buNone/>
            </a:pPr>
            <a:r>
              <a:rPr lang="ja-JP" sz="1150" b="1" noProof="0" dirty="0">
                <a:solidFill>
                  <a:srgbClr val="1E293B"/>
                </a:solidFill>
              </a:rPr>
              <a:t>2限</a:t>
            </a:r>
            <a:endParaRPr lang="ja-JP" sz="1150" noProof="0" dirty="0"/>
          </a:p>
        </p:txBody>
      </p:sp>
      <p:sp>
        <p:nvSpPr>
          <p:cNvPr id="23" name="Shape 21"/>
          <p:cNvSpPr/>
          <p:nvPr/>
        </p:nvSpPr>
        <p:spPr>
          <a:xfrm>
            <a:off x="1508760" y="2194560"/>
            <a:ext cx="10515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4" name="Text 22"/>
          <p:cNvSpPr/>
          <p:nvPr/>
        </p:nvSpPr>
        <p:spPr>
          <a:xfrm>
            <a:off x="1508760" y="2194560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10:40</a:t>
            </a:r>
            <a:endParaRPr lang="ja-JP" sz="1150" noProof="0" dirty="0"/>
          </a:p>
        </p:txBody>
      </p:sp>
      <p:sp>
        <p:nvSpPr>
          <p:cNvPr id="25" name="Shape 23"/>
          <p:cNvSpPr/>
          <p:nvPr/>
        </p:nvSpPr>
        <p:spPr>
          <a:xfrm>
            <a:off x="2560320" y="2194560"/>
            <a:ext cx="10515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6" name="Text 24"/>
          <p:cNvSpPr/>
          <p:nvPr/>
        </p:nvSpPr>
        <p:spPr>
          <a:xfrm>
            <a:off x="2560320" y="2194560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12:20</a:t>
            </a:r>
            <a:endParaRPr lang="ja-JP" sz="1150" noProof="0" dirty="0"/>
          </a:p>
        </p:txBody>
      </p:sp>
      <p:sp>
        <p:nvSpPr>
          <p:cNvPr id="27" name="Shape 25"/>
          <p:cNvSpPr/>
          <p:nvPr/>
        </p:nvSpPr>
        <p:spPr>
          <a:xfrm>
            <a:off x="3611880" y="2194560"/>
            <a:ext cx="51663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8" name="Text 26"/>
          <p:cNvSpPr/>
          <p:nvPr/>
        </p:nvSpPr>
        <p:spPr>
          <a:xfrm>
            <a:off x="3611880" y="2194560"/>
            <a:ext cx="51663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3B82F6"/>
                </a:solidFill>
              </a:rPr>
              <a:t>10:30 〜 11:10 　</a:t>
            </a:r>
            <a:endParaRPr lang="ja-JP" sz="1150" noProof="0" dirty="0"/>
          </a:p>
        </p:txBody>
      </p:sp>
      <p:sp>
        <p:nvSpPr>
          <p:cNvPr id="29" name="Shape 27"/>
          <p:cNvSpPr/>
          <p:nvPr/>
        </p:nvSpPr>
        <p:spPr>
          <a:xfrm>
            <a:off x="457200" y="2596896"/>
            <a:ext cx="10515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0" name="Text 28"/>
          <p:cNvSpPr/>
          <p:nvPr/>
        </p:nvSpPr>
        <p:spPr>
          <a:xfrm>
            <a:off x="457200" y="2596896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ctr">
              <a:buNone/>
            </a:pPr>
            <a:r>
              <a:rPr lang="ja-JP" sz="1150" b="1" noProof="0" dirty="0">
                <a:solidFill>
                  <a:srgbClr val="1E293B"/>
                </a:solidFill>
              </a:rPr>
              <a:t>3限</a:t>
            </a:r>
            <a:endParaRPr lang="ja-JP" sz="1150" noProof="0" dirty="0"/>
          </a:p>
        </p:txBody>
      </p:sp>
      <p:sp>
        <p:nvSpPr>
          <p:cNvPr id="31" name="Shape 29"/>
          <p:cNvSpPr/>
          <p:nvPr/>
        </p:nvSpPr>
        <p:spPr>
          <a:xfrm>
            <a:off x="1508760" y="2596896"/>
            <a:ext cx="10515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2" name="Text 30"/>
          <p:cNvSpPr/>
          <p:nvPr/>
        </p:nvSpPr>
        <p:spPr>
          <a:xfrm>
            <a:off x="1508760" y="2596896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13:10</a:t>
            </a:r>
            <a:endParaRPr lang="ja-JP" sz="1150" noProof="0" dirty="0"/>
          </a:p>
        </p:txBody>
      </p:sp>
      <p:sp>
        <p:nvSpPr>
          <p:cNvPr id="33" name="Shape 31"/>
          <p:cNvSpPr/>
          <p:nvPr/>
        </p:nvSpPr>
        <p:spPr>
          <a:xfrm>
            <a:off x="2560320" y="2596896"/>
            <a:ext cx="10515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4" name="Text 32"/>
          <p:cNvSpPr/>
          <p:nvPr/>
        </p:nvSpPr>
        <p:spPr>
          <a:xfrm>
            <a:off x="2560320" y="2596896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14:50</a:t>
            </a:r>
            <a:endParaRPr lang="ja-JP" sz="1150" noProof="0" dirty="0"/>
          </a:p>
        </p:txBody>
      </p:sp>
      <p:sp>
        <p:nvSpPr>
          <p:cNvPr id="35" name="Shape 33"/>
          <p:cNvSpPr/>
          <p:nvPr/>
        </p:nvSpPr>
        <p:spPr>
          <a:xfrm>
            <a:off x="3611880" y="2596896"/>
            <a:ext cx="51663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6" name="Text 34"/>
          <p:cNvSpPr/>
          <p:nvPr/>
        </p:nvSpPr>
        <p:spPr>
          <a:xfrm>
            <a:off x="3611880" y="2596896"/>
            <a:ext cx="51663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3B82F6"/>
                </a:solidFill>
              </a:rPr>
              <a:t>13:00 〜 13:40 　</a:t>
            </a:r>
            <a:endParaRPr lang="ja-JP" sz="1150" noProof="0" dirty="0"/>
          </a:p>
        </p:txBody>
      </p:sp>
      <p:sp>
        <p:nvSpPr>
          <p:cNvPr id="37" name="Shape 35"/>
          <p:cNvSpPr/>
          <p:nvPr/>
        </p:nvSpPr>
        <p:spPr>
          <a:xfrm>
            <a:off x="457200" y="2999232"/>
            <a:ext cx="10515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8" name="Text 36"/>
          <p:cNvSpPr/>
          <p:nvPr/>
        </p:nvSpPr>
        <p:spPr>
          <a:xfrm>
            <a:off x="457200" y="2999232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ctr">
              <a:buNone/>
            </a:pPr>
            <a:r>
              <a:rPr lang="ja-JP" sz="1150" b="1" noProof="0" dirty="0">
                <a:solidFill>
                  <a:srgbClr val="1E293B"/>
                </a:solidFill>
              </a:rPr>
              <a:t>4限</a:t>
            </a:r>
            <a:endParaRPr lang="ja-JP" sz="1150" noProof="0" dirty="0"/>
          </a:p>
        </p:txBody>
      </p:sp>
      <p:sp>
        <p:nvSpPr>
          <p:cNvPr id="39" name="Shape 37"/>
          <p:cNvSpPr/>
          <p:nvPr/>
        </p:nvSpPr>
        <p:spPr>
          <a:xfrm>
            <a:off x="1508760" y="2999232"/>
            <a:ext cx="10515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40" name="Text 38"/>
          <p:cNvSpPr/>
          <p:nvPr/>
        </p:nvSpPr>
        <p:spPr>
          <a:xfrm>
            <a:off x="1508760" y="2999232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15:00</a:t>
            </a:r>
            <a:endParaRPr lang="ja-JP" sz="1150" noProof="0" dirty="0"/>
          </a:p>
        </p:txBody>
      </p:sp>
      <p:sp>
        <p:nvSpPr>
          <p:cNvPr id="41" name="Shape 39"/>
          <p:cNvSpPr/>
          <p:nvPr/>
        </p:nvSpPr>
        <p:spPr>
          <a:xfrm>
            <a:off x="2560320" y="2999232"/>
            <a:ext cx="10515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42" name="Text 40"/>
          <p:cNvSpPr/>
          <p:nvPr/>
        </p:nvSpPr>
        <p:spPr>
          <a:xfrm>
            <a:off x="2560320" y="2999232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16:40</a:t>
            </a:r>
            <a:endParaRPr lang="ja-JP" sz="1150" noProof="0" dirty="0"/>
          </a:p>
        </p:txBody>
      </p:sp>
      <p:sp>
        <p:nvSpPr>
          <p:cNvPr id="43" name="Shape 41"/>
          <p:cNvSpPr/>
          <p:nvPr/>
        </p:nvSpPr>
        <p:spPr>
          <a:xfrm>
            <a:off x="3611880" y="2999232"/>
            <a:ext cx="51663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44" name="Text 42"/>
          <p:cNvSpPr/>
          <p:nvPr/>
        </p:nvSpPr>
        <p:spPr>
          <a:xfrm>
            <a:off x="3611880" y="2999232"/>
            <a:ext cx="51663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3B82F6"/>
                </a:solidFill>
              </a:rPr>
              <a:t>14:50 〜 15:30 　</a:t>
            </a:r>
            <a:endParaRPr lang="ja-JP" sz="1150" noProof="0" dirty="0"/>
          </a:p>
        </p:txBody>
      </p:sp>
      <p:sp>
        <p:nvSpPr>
          <p:cNvPr id="45" name="Shape 43"/>
          <p:cNvSpPr/>
          <p:nvPr/>
        </p:nvSpPr>
        <p:spPr>
          <a:xfrm>
            <a:off x="457200" y="3401568"/>
            <a:ext cx="10515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46" name="Text 44"/>
          <p:cNvSpPr/>
          <p:nvPr/>
        </p:nvSpPr>
        <p:spPr>
          <a:xfrm>
            <a:off x="457200" y="3401568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ctr">
              <a:buNone/>
            </a:pPr>
            <a:r>
              <a:rPr lang="ja-JP" sz="1150" b="1" noProof="0" dirty="0">
                <a:solidFill>
                  <a:srgbClr val="1E293B"/>
                </a:solidFill>
              </a:rPr>
              <a:t>5限</a:t>
            </a:r>
            <a:endParaRPr lang="ja-JP" sz="1150" noProof="0" dirty="0"/>
          </a:p>
        </p:txBody>
      </p:sp>
      <p:sp>
        <p:nvSpPr>
          <p:cNvPr id="47" name="Shape 45"/>
          <p:cNvSpPr/>
          <p:nvPr/>
        </p:nvSpPr>
        <p:spPr>
          <a:xfrm>
            <a:off x="1508760" y="3401568"/>
            <a:ext cx="10515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48" name="Text 46"/>
          <p:cNvSpPr/>
          <p:nvPr/>
        </p:nvSpPr>
        <p:spPr>
          <a:xfrm>
            <a:off x="1508760" y="3401568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16:50</a:t>
            </a:r>
            <a:endParaRPr lang="ja-JP" sz="1150" noProof="0" dirty="0"/>
          </a:p>
        </p:txBody>
      </p:sp>
      <p:sp>
        <p:nvSpPr>
          <p:cNvPr id="49" name="Shape 47"/>
          <p:cNvSpPr/>
          <p:nvPr/>
        </p:nvSpPr>
        <p:spPr>
          <a:xfrm>
            <a:off x="2560320" y="3401568"/>
            <a:ext cx="10515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50" name="Text 48"/>
          <p:cNvSpPr/>
          <p:nvPr/>
        </p:nvSpPr>
        <p:spPr>
          <a:xfrm>
            <a:off x="2560320" y="3401568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18:30</a:t>
            </a:r>
            <a:endParaRPr lang="ja-JP" sz="1150" noProof="0" dirty="0"/>
          </a:p>
        </p:txBody>
      </p:sp>
      <p:sp>
        <p:nvSpPr>
          <p:cNvPr id="51" name="Shape 49"/>
          <p:cNvSpPr/>
          <p:nvPr/>
        </p:nvSpPr>
        <p:spPr>
          <a:xfrm>
            <a:off x="3611880" y="3401568"/>
            <a:ext cx="516636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52" name="Text 50"/>
          <p:cNvSpPr/>
          <p:nvPr/>
        </p:nvSpPr>
        <p:spPr>
          <a:xfrm>
            <a:off x="3611880" y="3401568"/>
            <a:ext cx="51663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3B82F6"/>
                </a:solidFill>
              </a:rPr>
              <a:t>16:40 〜 17:20 　</a:t>
            </a:r>
            <a:endParaRPr lang="ja-JP" sz="1150" noProof="0" dirty="0"/>
          </a:p>
        </p:txBody>
      </p:sp>
      <p:sp>
        <p:nvSpPr>
          <p:cNvPr id="53" name="Shape 51"/>
          <p:cNvSpPr/>
          <p:nvPr/>
        </p:nvSpPr>
        <p:spPr>
          <a:xfrm>
            <a:off x="457200" y="3803904"/>
            <a:ext cx="10515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54" name="Text 52"/>
          <p:cNvSpPr/>
          <p:nvPr/>
        </p:nvSpPr>
        <p:spPr>
          <a:xfrm>
            <a:off x="457200" y="3803904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ctr">
              <a:buNone/>
            </a:pPr>
            <a:r>
              <a:rPr lang="ja-JP" sz="1150" b="1" noProof="0" dirty="0">
                <a:solidFill>
                  <a:srgbClr val="1E293B"/>
                </a:solidFill>
              </a:rPr>
              <a:t>6限</a:t>
            </a:r>
            <a:endParaRPr lang="ja-JP" sz="1150" noProof="0" dirty="0"/>
          </a:p>
        </p:txBody>
      </p:sp>
      <p:sp>
        <p:nvSpPr>
          <p:cNvPr id="55" name="Shape 53"/>
          <p:cNvSpPr/>
          <p:nvPr/>
        </p:nvSpPr>
        <p:spPr>
          <a:xfrm>
            <a:off x="1508760" y="3803904"/>
            <a:ext cx="10515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56" name="Text 54"/>
          <p:cNvSpPr/>
          <p:nvPr/>
        </p:nvSpPr>
        <p:spPr>
          <a:xfrm>
            <a:off x="1508760" y="3803904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18:40</a:t>
            </a:r>
            <a:endParaRPr lang="ja-JP" sz="1150" noProof="0" dirty="0"/>
          </a:p>
        </p:txBody>
      </p:sp>
      <p:sp>
        <p:nvSpPr>
          <p:cNvPr id="57" name="Shape 55"/>
          <p:cNvSpPr/>
          <p:nvPr/>
        </p:nvSpPr>
        <p:spPr>
          <a:xfrm>
            <a:off x="2560320" y="3803904"/>
            <a:ext cx="10515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58" name="Text 56"/>
          <p:cNvSpPr/>
          <p:nvPr/>
        </p:nvSpPr>
        <p:spPr>
          <a:xfrm>
            <a:off x="2560320" y="3803904"/>
            <a:ext cx="10515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20:20</a:t>
            </a:r>
            <a:endParaRPr lang="ja-JP" sz="1150" noProof="0" dirty="0"/>
          </a:p>
        </p:txBody>
      </p:sp>
      <p:sp>
        <p:nvSpPr>
          <p:cNvPr id="59" name="Shape 57"/>
          <p:cNvSpPr/>
          <p:nvPr/>
        </p:nvSpPr>
        <p:spPr>
          <a:xfrm>
            <a:off x="3611880" y="3803904"/>
            <a:ext cx="5166360" cy="402336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60" name="Text 58"/>
          <p:cNvSpPr/>
          <p:nvPr/>
        </p:nvSpPr>
        <p:spPr>
          <a:xfrm>
            <a:off x="3611880" y="3803904"/>
            <a:ext cx="5166360" cy="402336"/>
          </a:xfrm>
          <a:prstGeom prst="rect">
            <a:avLst/>
          </a:prstGeom>
          <a:noFill/>
          <a:ln/>
        </p:spPr>
        <p:txBody>
          <a:bodyPr wrap="square" lIns="0" tIns="76200" rIns="76200" bIns="0" rtlCol="0" anchor="ctr"/>
          <a:lstStyle/>
          <a:p>
            <a:pPr marL="0" indent="0" algn="l">
              <a:buNone/>
            </a:pPr>
            <a:r>
              <a:rPr lang="ja-JP" sz="1150" noProof="0" dirty="0">
                <a:solidFill>
                  <a:srgbClr val="3B82F6"/>
                </a:solidFill>
              </a:rPr>
              <a:t>18:30 〜 19:10 　</a:t>
            </a:r>
            <a:endParaRPr lang="ja-JP" sz="1150" noProof="0" dirty="0"/>
          </a:p>
        </p:txBody>
      </p:sp>
      <p:sp>
        <p:nvSpPr>
          <p:cNvPr id="61" name="Shape 59"/>
          <p:cNvSpPr/>
          <p:nvPr/>
        </p:nvSpPr>
        <p:spPr>
          <a:xfrm>
            <a:off x="457200" y="4434840"/>
            <a:ext cx="832104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62" name="Text 60"/>
          <p:cNvSpPr/>
          <p:nvPr/>
        </p:nvSpPr>
        <p:spPr>
          <a:xfrm>
            <a:off x="566928" y="4434840"/>
            <a:ext cx="8211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92400E"/>
                </a:solidFill>
              </a:rPr>
              <a:t>💡 </a:t>
            </a:r>
            <a:r>
              <a:rPr lang="ja-JP" sz="1250" noProof="0" dirty="0">
                <a:solidFill>
                  <a:srgbClr val="92400E"/>
                </a:solidFill>
              </a:rPr>
              <a:t>事前時間（デフォルト 10 分）と事後時間（デフォルト 30 分）は設定画面でカスタマイズできます。</a:t>
            </a:r>
            <a:endParaRPr lang="ja-JP" sz="1250" noProof="0" dirty="0"/>
          </a:p>
        </p:txBody>
      </p:sp>
      <p:sp>
        <p:nvSpPr>
          <p:cNvPr id="63" name="Shape 6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64" name="Text 62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65" name="Text 63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5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授業の管理</a:t>
            </a:r>
            <a:endParaRPr lang="ja-JP" sz="230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3584448" cy="3767328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3584448" cy="40233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b="1" noProof="0" dirty="0">
                <a:solidFill>
                  <a:srgbClr val="FFFFFF"/>
                </a:solidFill>
              </a:rPr>
              <a:t>操作手順とボタン説明</a:t>
            </a:r>
            <a:endParaRPr lang="ja-JP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502920" y="149961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8" name="Text 6"/>
          <p:cNvSpPr/>
          <p:nvPr/>
        </p:nvSpPr>
        <p:spPr>
          <a:xfrm>
            <a:off x="502920" y="14996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b="1" noProof="0" dirty="0">
                <a:solidFill>
                  <a:srgbClr val="FFFFFF"/>
                </a:solidFill>
              </a:rPr>
              <a:t>1</a:t>
            </a:r>
            <a:endParaRPr lang="ja-JP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896112" y="1508760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トレイアイコンを右クリック</a:t>
            </a:r>
            <a:endParaRPr lang="ja-JP" sz="1150" noProof="0" dirty="0"/>
          </a:p>
        </p:txBody>
      </p:sp>
      <p:sp>
        <p:nvSpPr>
          <p:cNvPr id="10" name="Shape 8"/>
          <p:cNvSpPr/>
          <p:nvPr/>
        </p:nvSpPr>
        <p:spPr>
          <a:xfrm>
            <a:off x="502920" y="197510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1" name="Text 9"/>
          <p:cNvSpPr/>
          <p:nvPr/>
        </p:nvSpPr>
        <p:spPr>
          <a:xfrm>
            <a:off x="50292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b="1" noProof="0" dirty="0">
                <a:solidFill>
                  <a:srgbClr val="FFFFFF"/>
                </a:solidFill>
              </a:rPr>
              <a:t>2</a:t>
            </a:r>
            <a:endParaRPr lang="ja-JP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896112" y="198424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「設定…」を選択</a:t>
            </a:r>
            <a:endParaRPr lang="ja-JP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502920" y="245059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4" name="Text 12"/>
          <p:cNvSpPr/>
          <p:nvPr/>
        </p:nvSpPr>
        <p:spPr>
          <a:xfrm>
            <a:off x="502920" y="24505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b="1" noProof="0" dirty="0">
                <a:solidFill>
                  <a:srgbClr val="FFFFFF"/>
                </a:solidFill>
              </a:rPr>
              <a:t>3</a:t>
            </a:r>
            <a:endParaRPr lang="ja-JP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896112" y="2459736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50" noProof="0" dirty="0">
                <a:solidFill>
                  <a:srgbClr val="1E293B"/>
                </a:solidFill>
              </a:rPr>
              <a:t>「授業」タブに切り替える</a:t>
            </a:r>
            <a:endParaRPr lang="ja-JP" sz="1150" noProof="0" dirty="0"/>
          </a:p>
        </p:txBody>
      </p:sp>
      <p:sp>
        <p:nvSpPr>
          <p:cNvPr id="16" name="Text 14"/>
          <p:cNvSpPr/>
          <p:nvPr/>
        </p:nvSpPr>
        <p:spPr>
          <a:xfrm>
            <a:off x="457200" y="303580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ボタン機能</a:t>
            </a:r>
            <a:endParaRPr lang="ja-JP" sz="1200" noProof="0" dirty="0"/>
          </a:p>
        </p:txBody>
      </p:sp>
      <p:sp>
        <p:nvSpPr>
          <p:cNvPr id="17" name="Shape 15"/>
          <p:cNvSpPr/>
          <p:nvPr/>
        </p:nvSpPr>
        <p:spPr>
          <a:xfrm>
            <a:off x="502920" y="3364992"/>
            <a:ext cx="1170432" cy="21031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8" name="Text 16"/>
          <p:cNvSpPr/>
          <p:nvPr/>
        </p:nvSpPr>
        <p:spPr>
          <a:xfrm>
            <a:off x="502920" y="3364992"/>
            <a:ext cx="117043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850" b="1" noProof="0" dirty="0">
                <a:solidFill>
                  <a:srgbClr val="FFFFFF"/>
                </a:solidFill>
              </a:rPr>
              <a:t>設定を読み込む</a:t>
            </a:r>
            <a:endParaRPr lang="ja-JP" sz="850" noProof="0" dirty="0"/>
          </a:p>
        </p:txBody>
      </p:sp>
      <p:sp>
        <p:nvSpPr>
          <p:cNvPr id="19" name="Text 17"/>
          <p:cNvSpPr/>
          <p:nvPr/>
        </p:nvSpPr>
        <p:spPr>
          <a:xfrm>
            <a:off x="1735836" y="3374136"/>
            <a:ext cx="2267712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50" noProof="0" dirty="0">
                <a:solidFill>
                  <a:srgbClr val="1E293B"/>
                </a:solidFill>
              </a:rPr>
              <a:t>→  教員の設定ファイルを読み込む</a:t>
            </a:r>
            <a:endParaRPr lang="ja-JP" sz="950" noProof="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1170432" cy="21031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1" name="Text 19"/>
          <p:cNvSpPr/>
          <p:nvPr/>
        </p:nvSpPr>
        <p:spPr>
          <a:xfrm>
            <a:off x="502920" y="3611880"/>
            <a:ext cx="117043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850" b="1" noProof="0" dirty="0">
                <a:solidFill>
                  <a:srgbClr val="FFFFFF"/>
                </a:solidFill>
              </a:rPr>
              <a:t>追加</a:t>
            </a:r>
            <a:endParaRPr lang="ja-JP" sz="850" noProof="0" dirty="0"/>
          </a:p>
        </p:txBody>
      </p:sp>
      <p:sp>
        <p:nvSpPr>
          <p:cNvPr id="22" name="Text 20"/>
          <p:cNvSpPr/>
          <p:nvPr/>
        </p:nvSpPr>
        <p:spPr>
          <a:xfrm>
            <a:off x="1735836" y="3621024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50" noProof="0" dirty="0">
                <a:solidFill>
                  <a:srgbClr val="1E293B"/>
                </a:solidFill>
              </a:rPr>
              <a:t>→  新しい授業を追加する</a:t>
            </a:r>
            <a:endParaRPr lang="ja-JP" sz="950" noProof="0" dirty="0"/>
          </a:p>
        </p:txBody>
      </p:sp>
      <p:sp>
        <p:nvSpPr>
          <p:cNvPr id="23" name="Shape 21"/>
          <p:cNvSpPr/>
          <p:nvPr/>
        </p:nvSpPr>
        <p:spPr>
          <a:xfrm>
            <a:off x="502920" y="3858768"/>
            <a:ext cx="1170432" cy="21031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4" name="Text 22"/>
          <p:cNvSpPr/>
          <p:nvPr/>
        </p:nvSpPr>
        <p:spPr>
          <a:xfrm>
            <a:off x="502920" y="3858768"/>
            <a:ext cx="117043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850" b="1" noProof="0" dirty="0">
                <a:solidFill>
                  <a:srgbClr val="FFFFFF"/>
                </a:solidFill>
              </a:rPr>
              <a:t>編集</a:t>
            </a:r>
            <a:endParaRPr lang="ja-JP" sz="850" noProof="0" dirty="0"/>
          </a:p>
        </p:txBody>
      </p:sp>
      <p:sp>
        <p:nvSpPr>
          <p:cNvPr id="25" name="Text 23"/>
          <p:cNvSpPr/>
          <p:nvPr/>
        </p:nvSpPr>
        <p:spPr>
          <a:xfrm>
            <a:off x="1735836" y="3867912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50" noProof="0" dirty="0">
                <a:solidFill>
                  <a:srgbClr val="1E293B"/>
                </a:solidFill>
              </a:rPr>
              <a:t>→  選択した授業を編集する</a:t>
            </a:r>
            <a:endParaRPr lang="ja-JP" sz="950" noProof="0" dirty="0"/>
          </a:p>
        </p:txBody>
      </p:sp>
      <p:sp>
        <p:nvSpPr>
          <p:cNvPr id="26" name="Shape 24"/>
          <p:cNvSpPr/>
          <p:nvPr/>
        </p:nvSpPr>
        <p:spPr>
          <a:xfrm>
            <a:off x="502920" y="4105656"/>
            <a:ext cx="1170432" cy="21031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7" name="Text 25"/>
          <p:cNvSpPr/>
          <p:nvPr/>
        </p:nvSpPr>
        <p:spPr>
          <a:xfrm>
            <a:off x="502920" y="4105656"/>
            <a:ext cx="117043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850" b="1" noProof="0" dirty="0">
                <a:solidFill>
                  <a:srgbClr val="FFFFFF"/>
                </a:solidFill>
              </a:rPr>
              <a:t>削除</a:t>
            </a:r>
            <a:endParaRPr lang="ja-JP" sz="850" noProof="0" dirty="0"/>
          </a:p>
        </p:txBody>
      </p:sp>
      <p:sp>
        <p:nvSpPr>
          <p:cNvPr id="28" name="Text 26"/>
          <p:cNvSpPr/>
          <p:nvPr/>
        </p:nvSpPr>
        <p:spPr>
          <a:xfrm>
            <a:off x="1735836" y="4114800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50" noProof="0" dirty="0">
                <a:solidFill>
                  <a:srgbClr val="1E293B"/>
                </a:solidFill>
              </a:rPr>
              <a:t>→  選択した授業を削除する</a:t>
            </a:r>
            <a:endParaRPr lang="ja-JP" sz="950" noProof="0" dirty="0"/>
          </a:p>
        </p:txBody>
      </p:sp>
      <p:sp>
        <p:nvSpPr>
          <p:cNvPr id="29" name="Shape 27"/>
          <p:cNvSpPr/>
          <p:nvPr/>
        </p:nvSpPr>
        <p:spPr>
          <a:xfrm>
            <a:off x="502920" y="4352544"/>
            <a:ext cx="1170432" cy="21031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0" name="Text 28"/>
          <p:cNvSpPr/>
          <p:nvPr/>
        </p:nvSpPr>
        <p:spPr>
          <a:xfrm>
            <a:off x="502920" y="4352544"/>
            <a:ext cx="117043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850" b="1" noProof="0" dirty="0">
                <a:solidFill>
                  <a:srgbClr val="FFFFFF"/>
                </a:solidFill>
              </a:rPr>
              <a:t>衝突検出</a:t>
            </a:r>
            <a:endParaRPr lang="ja-JP" sz="850" noProof="0" dirty="0"/>
          </a:p>
        </p:txBody>
      </p:sp>
      <p:sp>
        <p:nvSpPr>
          <p:cNvPr id="31" name="Text 29"/>
          <p:cNvSpPr/>
          <p:nvPr/>
        </p:nvSpPr>
        <p:spPr>
          <a:xfrm>
            <a:off x="1735836" y="4361688"/>
            <a:ext cx="2011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50" noProof="0" dirty="0">
                <a:solidFill>
                  <a:srgbClr val="1E293B"/>
                </a:solidFill>
              </a:rPr>
              <a:t>→  時間の重複を確認する</a:t>
            </a:r>
            <a:endParaRPr lang="ja-JP" sz="950" noProof="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960120"/>
            <a:ext cx="4800600" cy="3246120"/>
          </a:xfrm>
          <a:prstGeom prst="rect">
            <a:avLst/>
          </a:prstGeom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</p:pic>
      <p:sp>
        <p:nvSpPr>
          <p:cNvPr id="33" name="Text 30"/>
          <p:cNvSpPr/>
          <p:nvPr/>
        </p:nvSpPr>
        <p:spPr>
          <a:xfrm>
            <a:off x="4041648" y="4251960"/>
            <a:ext cx="4800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i="1" noProof="0" dirty="0">
                <a:solidFill>
                  <a:srgbClr val="64748B"/>
                </a:solidFill>
              </a:rPr>
              <a:t>「授業」タブ — 実際の画面</a:t>
            </a:r>
            <a:endParaRPr lang="ja-JP" sz="950" noProof="0" dirty="0"/>
          </a:p>
        </p:txBody>
      </p:sp>
      <p:sp>
        <p:nvSpPr>
          <p:cNvPr id="34" name="Shape 3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5" name="Text 32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36" name="Text 33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6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出席コードの操作</a:t>
            </a:r>
            <a:endParaRPr lang="ja-JP" sz="2300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3200400" cy="1463040"/>
          </a:xfrm>
          <a:prstGeom prst="rect">
            <a:avLst/>
          </a:prstGeom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74320" y="251460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i="1" noProof="0" dirty="0">
                <a:solidFill>
                  <a:srgbClr val="64748B"/>
                </a:solidFill>
              </a:rPr>
              <a:t>▲ 通常表示状態</a:t>
            </a:r>
            <a:endParaRPr lang="ja-JP" sz="950" noProof="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834640"/>
            <a:ext cx="3200400" cy="1463040"/>
          </a:xfrm>
          <a:prstGeom prst="rect">
            <a:avLst/>
          </a:prstGeom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274320" y="434340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i="1" noProof="0" dirty="0">
                <a:solidFill>
                  <a:srgbClr val="64748B"/>
                </a:solidFill>
              </a:rPr>
              <a:t>▲ 右クリック「入力」後の入力状態</a:t>
            </a:r>
            <a:endParaRPr lang="ja-JP" sz="950" noProof="0" dirty="0"/>
          </a:p>
        </p:txBody>
      </p:sp>
      <p:sp>
        <p:nvSpPr>
          <p:cNvPr id="8" name="Shape 4"/>
          <p:cNvSpPr/>
          <p:nvPr/>
        </p:nvSpPr>
        <p:spPr>
          <a:xfrm>
            <a:off x="3703320" y="960120"/>
            <a:ext cx="5120640" cy="115214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9" name="Shape 5"/>
          <p:cNvSpPr/>
          <p:nvPr/>
        </p:nvSpPr>
        <p:spPr>
          <a:xfrm>
            <a:off x="3703320" y="960120"/>
            <a:ext cx="64008" cy="115214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0" name="Text 6"/>
          <p:cNvSpPr/>
          <p:nvPr/>
        </p:nvSpPr>
        <p:spPr>
          <a:xfrm>
            <a:off x="3886200" y="103327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b="1" noProof="0" dirty="0">
                <a:solidFill>
                  <a:srgbClr val="1E40AF"/>
                </a:solidFill>
              </a:rPr>
              <a:t>①  出席コードを入力（一時コード）</a:t>
            </a:r>
            <a:endParaRPr lang="ja-JP" sz="1250" noProof="0" dirty="0"/>
          </a:p>
        </p:txBody>
      </p:sp>
      <p:sp>
        <p:nvSpPr>
          <p:cNvPr id="11" name="Text 7"/>
          <p:cNvSpPr/>
          <p:nvPr/>
        </p:nvSpPr>
        <p:spPr>
          <a:xfrm>
            <a:off x="3886200" y="138074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表示ウィンドウを右クリック →「入力」→ コードを貼り付けて Enter。</a:t>
            </a:r>
            <a:endParaRPr lang="ja-JP" sz="1100" noProof="0" dirty="0"/>
          </a:p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⚠ 一時コードは 30 分で自動消去（設定ファイルには保存されません）。</a:t>
            </a:r>
            <a:endParaRPr lang="ja-JP" sz="1100" noProof="0" dirty="0"/>
          </a:p>
        </p:txBody>
      </p:sp>
      <p:sp>
        <p:nvSpPr>
          <p:cNvPr id="12" name="Shape 8"/>
          <p:cNvSpPr/>
          <p:nvPr/>
        </p:nvSpPr>
        <p:spPr>
          <a:xfrm>
            <a:off x="3703320" y="2258568"/>
            <a:ext cx="5120640" cy="115214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3" name="Shape 9"/>
          <p:cNvSpPr/>
          <p:nvPr/>
        </p:nvSpPr>
        <p:spPr>
          <a:xfrm>
            <a:off x="3703320" y="2258568"/>
            <a:ext cx="64008" cy="115214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4" name="Text 10"/>
          <p:cNvSpPr/>
          <p:nvPr/>
        </p:nvSpPr>
        <p:spPr>
          <a:xfrm>
            <a:off x="3886200" y="233172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b="1" noProof="0" dirty="0">
                <a:solidFill>
                  <a:srgbClr val="1E40AF"/>
                </a:solidFill>
              </a:rPr>
              <a:t>②  コードを一括生成（永続コード）</a:t>
            </a:r>
            <a:endParaRPr lang="ja-JP" sz="1250" noProof="0" dirty="0"/>
          </a:p>
        </p:txBody>
      </p:sp>
      <p:sp>
        <p:nvSpPr>
          <p:cNvPr id="15" name="Text 11"/>
          <p:cNvSpPr/>
          <p:nvPr/>
        </p:nvSpPr>
        <p:spPr>
          <a:xfrm>
            <a:off x="3886200" y="2679192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設定 →「日程プレビュー」タブ →「コード生成」ボタンをクリック。全授業回のコードを自動生成します。</a:t>
            </a:r>
            <a:endParaRPr lang="ja-JP" sz="1100" noProof="0" dirty="0"/>
          </a:p>
        </p:txBody>
      </p:sp>
      <p:sp>
        <p:nvSpPr>
          <p:cNvPr id="16" name="Shape 12"/>
          <p:cNvSpPr/>
          <p:nvPr/>
        </p:nvSpPr>
        <p:spPr>
          <a:xfrm>
            <a:off x="3703320" y="3557016"/>
            <a:ext cx="5120640" cy="115214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7" name="Shape 13"/>
          <p:cNvSpPr/>
          <p:nvPr/>
        </p:nvSpPr>
        <p:spPr>
          <a:xfrm>
            <a:off x="3703320" y="3557016"/>
            <a:ext cx="64008" cy="115214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8" name="Text 14"/>
          <p:cNvSpPr/>
          <p:nvPr/>
        </p:nvSpPr>
        <p:spPr>
          <a:xfrm>
            <a:off x="3886200" y="363016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b="1" noProof="0" dirty="0">
                <a:solidFill>
                  <a:srgbClr val="1E40AF"/>
                </a:solidFill>
              </a:rPr>
              <a:t>③  コードをクリア</a:t>
            </a:r>
            <a:endParaRPr lang="ja-JP" sz="1250" noProof="0" dirty="0"/>
          </a:p>
        </p:txBody>
      </p:sp>
      <p:sp>
        <p:nvSpPr>
          <p:cNvPr id="19" name="Text 15"/>
          <p:cNvSpPr/>
          <p:nvPr/>
        </p:nvSpPr>
        <p:spPr>
          <a:xfrm>
            <a:off x="3886200" y="397764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表示ウィンドウを右クリック →「クリア」。コードが消去され「----」が表示されます。</a:t>
            </a:r>
            <a:endParaRPr lang="ja-JP" sz="1100" noProof="0" dirty="0"/>
          </a:p>
        </p:txBody>
      </p:sp>
      <p:sp>
        <p:nvSpPr>
          <p:cNvPr id="20" name="Shape 1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1" name="Text 17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22" name="Text 18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7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出席コード — 日程プレビューで一括管理</a:t>
            </a:r>
            <a:endParaRPr lang="ja-JP" sz="2300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60120"/>
            <a:ext cx="5029200" cy="3410712"/>
          </a:xfrm>
          <a:prstGeom prst="rect">
            <a:avLst/>
          </a:prstGeom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320040" y="441655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i="1" noProof="0" dirty="0">
                <a:solidFill>
                  <a:srgbClr val="64748B"/>
                </a:solidFill>
              </a:rPr>
              <a:t>「日程プレビュー」タブ — 実際の画面</a:t>
            </a:r>
            <a:endParaRPr lang="ja-JP" sz="950" noProof="0" dirty="0"/>
          </a:p>
        </p:txBody>
      </p:sp>
      <p:sp>
        <p:nvSpPr>
          <p:cNvPr id="6" name="Shape 3"/>
          <p:cNvSpPr/>
          <p:nvPr/>
        </p:nvSpPr>
        <p:spPr>
          <a:xfrm>
            <a:off x="5577840" y="1005840"/>
            <a:ext cx="3246120" cy="841248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7" name="Text 4"/>
          <p:cNvSpPr/>
          <p:nvPr/>
        </p:nvSpPr>
        <p:spPr>
          <a:xfrm>
            <a:off x="5669280" y="105156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🔵  コード設定済み</a:t>
            </a:r>
            <a:endParaRPr lang="ja-JP" sz="1200" noProof="0" dirty="0"/>
          </a:p>
        </p:txBody>
      </p:sp>
      <p:sp>
        <p:nvSpPr>
          <p:cNvPr id="8" name="Text 5"/>
          <p:cNvSpPr/>
          <p:nvPr/>
        </p:nvSpPr>
        <p:spPr>
          <a:xfrm>
            <a:off x="5669280" y="1353312"/>
            <a:ext cx="3063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4桁の数字が表示されます。次回起動時も有効です。</a:t>
            </a:r>
            <a:endParaRPr lang="ja-JP" sz="1050" noProof="0" dirty="0"/>
          </a:p>
        </p:txBody>
      </p:sp>
      <p:sp>
        <p:nvSpPr>
          <p:cNvPr id="9" name="Shape 6"/>
          <p:cNvSpPr/>
          <p:nvPr/>
        </p:nvSpPr>
        <p:spPr>
          <a:xfrm>
            <a:off x="5577840" y="1965960"/>
            <a:ext cx="3246120" cy="841248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0" name="Text 7"/>
          <p:cNvSpPr/>
          <p:nvPr/>
        </p:nvSpPr>
        <p:spPr>
          <a:xfrm>
            <a:off x="5669280" y="201168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🟡  コード未設定</a:t>
            </a:r>
            <a:endParaRPr lang="ja-JP" sz="1200" noProof="0" dirty="0"/>
          </a:p>
        </p:txBody>
      </p:sp>
      <p:sp>
        <p:nvSpPr>
          <p:cNvPr id="11" name="Text 8"/>
          <p:cNvSpPr/>
          <p:nvPr/>
        </p:nvSpPr>
        <p:spPr>
          <a:xfrm>
            <a:off x="5669280" y="2313432"/>
            <a:ext cx="3063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黄色の背景行に「（未設定）」と表示されます。セルをクリックして手動入力できます。</a:t>
            </a:r>
            <a:endParaRPr lang="ja-JP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5577840" y="2926080"/>
            <a:ext cx="3246120" cy="841248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3" name="Text 10"/>
          <p:cNvSpPr/>
          <p:nvPr/>
        </p:nvSpPr>
        <p:spPr>
          <a:xfrm>
            <a:off x="5669280" y="297180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✨  コード生成 ボタン</a:t>
            </a:r>
            <a:endParaRPr lang="ja-JP" sz="1200" noProof="0" dirty="0"/>
          </a:p>
        </p:txBody>
      </p:sp>
      <p:sp>
        <p:nvSpPr>
          <p:cNvPr id="14" name="Text 11"/>
          <p:cNvSpPr/>
          <p:nvPr/>
        </p:nvSpPr>
        <p:spPr>
          <a:xfrm>
            <a:off x="5669280" y="3273552"/>
            <a:ext cx="3063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未設定の全回次にランダムな 4 桁コードを自動生成します。</a:t>
            </a:r>
            <a:endParaRPr lang="ja-JP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5577840" y="3886200"/>
            <a:ext cx="3246120" cy="841248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6" name="Text 13"/>
          <p:cNvSpPr/>
          <p:nvPr/>
        </p:nvSpPr>
        <p:spPr>
          <a:xfrm>
            <a:off x="5669280" y="3931920"/>
            <a:ext cx="3063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✏️  直接編集</a:t>
            </a:r>
            <a:endParaRPr lang="ja-JP" sz="1200" noProof="0" dirty="0"/>
          </a:p>
        </p:txBody>
      </p:sp>
      <p:sp>
        <p:nvSpPr>
          <p:cNvPr id="17" name="Text 14"/>
          <p:cNvSpPr/>
          <p:nvPr/>
        </p:nvSpPr>
        <p:spPr>
          <a:xfrm>
            <a:off x="5669280" y="4233672"/>
            <a:ext cx="3063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出席コード列のセルをクリックして直接入力・修正できます。</a:t>
            </a:r>
            <a:endParaRPr lang="ja-JP" sz="1050" noProof="0" dirty="0"/>
          </a:p>
        </p:txBody>
      </p:sp>
      <p:sp>
        <p:nvSpPr>
          <p:cNvPr id="18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9" name="Text 16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20" name="Text 17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8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出席コード — 優先順位の仕組み</a:t>
            </a:r>
            <a:endParaRPr lang="ja-JP" sz="23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noProof="0" dirty="0">
                <a:solidFill>
                  <a:srgbClr val="1E293B"/>
                </a:solidFill>
              </a:rPr>
              <a:t>複数の出席コードが存在する場合、以下の優先順位でウィンドウに表示されます：</a:t>
            </a:r>
            <a:endParaRPr lang="ja-JP" sz="1250" noProof="0" dirty="0"/>
          </a:p>
        </p:txBody>
      </p:sp>
      <p:sp>
        <p:nvSpPr>
          <p:cNvPr id="5" name="Shape 3"/>
          <p:cNvSpPr/>
          <p:nvPr/>
        </p:nvSpPr>
        <p:spPr>
          <a:xfrm>
            <a:off x="320040" y="1463040"/>
            <a:ext cx="8503920" cy="87782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1024128" cy="87782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7" name="Text 5"/>
          <p:cNvSpPr/>
          <p:nvPr/>
        </p:nvSpPr>
        <p:spPr>
          <a:xfrm>
            <a:off x="320040" y="1463040"/>
            <a:ext cx="1024128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250" b="1" noProof="0" dirty="0">
                <a:solidFill>
                  <a:srgbClr val="FFFFFF"/>
                </a:solidFill>
              </a:rPr>
              <a:t>最優先</a:t>
            </a:r>
            <a:endParaRPr lang="ja-JP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1463040" y="1554480"/>
            <a:ext cx="7223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50" b="1" noProof="0" dirty="0">
                <a:solidFill>
                  <a:srgbClr val="1E40AF"/>
                </a:solidFill>
              </a:rPr>
              <a:t>一時コード（メモリ）</a:t>
            </a:r>
            <a:endParaRPr lang="ja-JP" sz="135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1865376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右クリック「入力」で入力したコード。有効期限は 30 分で、期限切れ後は自動的に消去されます。設定ファイルには保存されません。</a:t>
            </a:r>
            <a:endParaRPr lang="ja-JP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320040" y="2468880"/>
            <a:ext cx="8503920" cy="87782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1024128" cy="87782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2" name="Text 10"/>
          <p:cNvSpPr/>
          <p:nvPr/>
        </p:nvSpPr>
        <p:spPr>
          <a:xfrm>
            <a:off x="320040" y="2468880"/>
            <a:ext cx="1024128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250" b="1" noProof="0" dirty="0">
                <a:solidFill>
                  <a:srgbClr val="FFFFFF"/>
                </a:solidFill>
              </a:rPr>
              <a:t>次優先</a:t>
            </a:r>
            <a:endParaRPr lang="ja-JP" sz="125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2560320"/>
            <a:ext cx="7223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50" b="1" noProof="0" dirty="0">
                <a:solidFill>
                  <a:srgbClr val="1E40AF"/>
                </a:solidFill>
              </a:rPr>
              <a:t>永続コード（設定ファイル）</a:t>
            </a:r>
            <a:endParaRPr lang="ja-JP" sz="1350" noProof="0" dirty="0"/>
          </a:p>
        </p:txBody>
      </p:sp>
      <p:sp>
        <p:nvSpPr>
          <p:cNvPr id="14" name="Text 12"/>
          <p:cNvSpPr/>
          <p:nvPr/>
        </p:nvSpPr>
        <p:spPr>
          <a:xfrm>
            <a:off x="1463040" y="2871216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「日程プレビュー」で編集するか「コード生成」で作成したコード。teacher_config.json に保存され、再起動後も有効です。</a:t>
            </a:r>
            <a:endParaRPr lang="ja-JP" sz="1100" noProof="0" dirty="0"/>
          </a:p>
        </p:txBody>
      </p:sp>
      <p:sp>
        <p:nvSpPr>
          <p:cNvPr id="15" name="Shape 13"/>
          <p:cNvSpPr/>
          <p:nvPr/>
        </p:nvSpPr>
        <p:spPr>
          <a:xfrm>
            <a:off x="320040" y="3474720"/>
            <a:ext cx="8503920" cy="87782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6" name="Shape 14"/>
          <p:cNvSpPr/>
          <p:nvPr/>
        </p:nvSpPr>
        <p:spPr>
          <a:xfrm>
            <a:off x="320040" y="3474720"/>
            <a:ext cx="1024128" cy="87782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7" name="Text 15"/>
          <p:cNvSpPr/>
          <p:nvPr/>
        </p:nvSpPr>
        <p:spPr>
          <a:xfrm>
            <a:off x="320040" y="3474720"/>
            <a:ext cx="1024128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250" b="1" noProof="0" dirty="0">
                <a:solidFill>
                  <a:srgbClr val="FFFFFF"/>
                </a:solidFill>
              </a:rPr>
              <a:t>デフォルト</a:t>
            </a:r>
            <a:endParaRPr lang="ja-JP" sz="1250" noProof="0" dirty="0"/>
          </a:p>
        </p:txBody>
      </p:sp>
      <p:sp>
        <p:nvSpPr>
          <p:cNvPr id="18" name="Text 16"/>
          <p:cNvSpPr/>
          <p:nvPr/>
        </p:nvSpPr>
        <p:spPr>
          <a:xfrm>
            <a:off x="1463040" y="3566160"/>
            <a:ext cx="7223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350" b="1" noProof="0" dirty="0">
                <a:solidFill>
                  <a:srgbClr val="1E40AF"/>
                </a:solidFill>
              </a:rPr>
              <a:t>なし（プレースホルダー表示）</a:t>
            </a:r>
            <a:endParaRPr lang="ja-JP" sz="1350" noProof="0" dirty="0"/>
          </a:p>
        </p:txBody>
      </p:sp>
      <p:sp>
        <p:nvSpPr>
          <p:cNvPr id="19" name="Text 17"/>
          <p:cNvSpPr/>
          <p:nvPr/>
        </p:nvSpPr>
        <p:spPr>
          <a:xfrm>
            <a:off x="1463040" y="3877056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コードが設定されていない場合、ウィンドウには「----」と表示されます。</a:t>
            </a:r>
            <a:endParaRPr lang="ja-JP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320040" y="4590288"/>
            <a:ext cx="85039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1" name="Text 19"/>
          <p:cNvSpPr/>
          <p:nvPr/>
        </p:nvSpPr>
        <p:spPr>
          <a:xfrm>
            <a:off x="429768" y="4590288"/>
            <a:ext cx="8394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92400E"/>
                </a:solidFill>
              </a:rPr>
              <a:t>💡 推奨：学期開始前に「日程プレビュー」で全授業回のコードを一括生成してください。一時コードは例外的な場面のみ使用します。</a:t>
            </a:r>
            <a:endParaRPr lang="ja-JP" sz="1050" noProof="0" dirty="0"/>
          </a:p>
        </p:txBody>
      </p:sp>
      <p:sp>
        <p:nvSpPr>
          <p:cNvPr id="22" name="Shape 2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3" name="Text 21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24" name="Text 22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9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授業の振替（調整）</a:t>
            </a:r>
            <a:endParaRPr lang="ja-JP" sz="23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50" noProof="0" dirty="0">
                <a:solidFill>
                  <a:srgbClr val="1E293B"/>
                </a:solidFill>
              </a:rPr>
              <a:t>授業の日程変更が発生した場合、「振替（Reschedule）」機能で対応できます。</a:t>
            </a:r>
            <a:endParaRPr lang="ja-JP" sz="1250" noProof="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1572768"/>
          </a:xfrm>
          <a:prstGeom prst="rect">
            <a:avLst/>
          </a:prstGeom>
          <a:solidFill>
            <a:srgbClr val="DBEAFE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6" name="Shape 4"/>
          <p:cNvSpPr/>
          <p:nvPr/>
        </p:nvSpPr>
        <p:spPr>
          <a:xfrm>
            <a:off x="320040" y="1389888"/>
            <a:ext cx="64008" cy="157276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7" name="Shape 5"/>
          <p:cNvSpPr/>
          <p:nvPr/>
        </p:nvSpPr>
        <p:spPr>
          <a:xfrm>
            <a:off x="320040" y="1389888"/>
            <a:ext cx="1463040" cy="157276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148132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2600" noProof="0" dirty="0">
                <a:solidFill>
                  <a:srgbClr val="000000"/>
                </a:solidFill>
              </a:rPr>
              <a:t>🔄</a:t>
            </a:r>
            <a:endParaRPr lang="ja-JP" sz="2600" noProof="0" dirty="0"/>
          </a:p>
        </p:txBody>
      </p:sp>
      <p:sp>
        <p:nvSpPr>
          <p:cNvPr id="9" name="Text 7"/>
          <p:cNvSpPr/>
          <p:nvPr/>
        </p:nvSpPr>
        <p:spPr>
          <a:xfrm>
            <a:off x="320040" y="2011680"/>
            <a:ext cx="146304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ja-JP" sz="1400" b="1" noProof="0" dirty="0">
                <a:solidFill>
                  <a:srgbClr val="FFFFFF"/>
                </a:solidFill>
              </a:rPr>
              <a:t>振替</a:t>
            </a:r>
            <a:endParaRPr lang="ja-JP" sz="1400" noProof="0" dirty="0"/>
          </a:p>
        </p:txBody>
      </p:sp>
      <p:sp>
        <p:nvSpPr>
          <p:cNvPr id="10" name="Text 8"/>
          <p:cNvSpPr/>
          <p:nvPr/>
        </p:nvSpPr>
        <p:spPr>
          <a:xfrm>
            <a:off x="320040" y="230428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noProof="0" dirty="0">
                <a:solidFill>
                  <a:srgbClr val="BFDBFE"/>
                </a:solidFill>
              </a:rPr>
              <a:t>Reschedule</a:t>
            </a:r>
            <a:endParaRPr lang="ja-JP" sz="950" noProof="0" dirty="0"/>
          </a:p>
        </p:txBody>
      </p:sp>
      <p:sp>
        <p:nvSpPr>
          <p:cNvPr id="11" name="Text 9"/>
          <p:cNvSpPr/>
          <p:nvPr/>
        </p:nvSpPr>
        <p:spPr>
          <a:xfrm>
            <a:off x="1920240" y="1463040"/>
            <a:ext cx="6766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b="1" noProof="0" dirty="0">
                <a:solidFill>
                  <a:srgbClr val="64748B"/>
                </a:solidFill>
              </a:rPr>
              <a:t>内容</a:t>
            </a:r>
            <a:endParaRPr lang="ja-JP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1920240" y="1719072"/>
            <a:ext cx="6720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>
                <a:solidFill>
                  <a:srgbClr val="1E293B"/>
                </a:solidFill>
              </a:rPr>
              <a:t>特定の授業回を元の日時から新しい日時に移動します。</a:t>
            </a:r>
            <a:endParaRPr lang="ja-JP" sz="1200" noProof="0" dirty="0"/>
          </a:p>
          <a:p>
            <a:pPr marL="0" indent="0">
              <a:buNone/>
            </a:pPr>
            <a:r>
              <a:rPr lang="ja-JP" sz="1200" noProof="0" dirty="0">
                <a:solidFill>
                  <a:srgbClr val="1E293B"/>
                </a:solidFill>
              </a:rPr>
              <a:t>例：4月16日（木 1限）の授業 → 4月18日（土 2限）に振替。</a:t>
            </a:r>
            <a:endParaRPr lang="ja-JP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1920240" y="2359152"/>
            <a:ext cx="6492240" cy="0"/>
          </a:xfrm>
          <a:prstGeom prst="line">
            <a:avLst/>
          </a:prstGeom>
          <a:noFill/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14" name="Text 12"/>
          <p:cNvSpPr/>
          <p:nvPr/>
        </p:nvSpPr>
        <p:spPr>
          <a:xfrm>
            <a:off x="1920240" y="2432304"/>
            <a:ext cx="6766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b="1" noProof="0" dirty="0">
                <a:solidFill>
                  <a:srgbClr val="64748B"/>
                </a:solidFill>
              </a:rPr>
              <a:t>操作</a:t>
            </a:r>
            <a:endParaRPr lang="ja-JP" sz="1100" noProof="0" dirty="0"/>
          </a:p>
        </p:txBody>
      </p:sp>
      <p:sp>
        <p:nvSpPr>
          <p:cNvPr id="15" name="Text 13"/>
          <p:cNvSpPr/>
          <p:nvPr/>
        </p:nvSpPr>
        <p:spPr>
          <a:xfrm>
            <a:off x="1920240" y="2688336"/>
            <a:ext cx="6720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50" noProof="0" dirty="0">
                <a:solidFill>
                  <a:srgbClr val="1E40AF"/>
                </a:solidFill>
              </a:rPr>
              <a:t>設定 →「調整」タブ →「調整を追加」→ 対象の授業・回次を選択 → 新しい日付・時限を設定 → OK</a:t>
            </a:r>
            <a:endParaRPr lang="ja-JP" sz="1150" noProof="0" dirty="0"/>
          </a:p>
        </p:txBody>
      </p:sp>
      <p:sp>
        <p:nvSpPr>
          <p:cNvPr id="16" name="Text 14"/>
          <p:cNvSpPr/>
          <p:nvPr/>
        </p:nvSpPr>
        <p:spPr>
          <a:xfrm>
            <a:off x="365760" y="309067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詳細手順</a:t>
            </a:r>
            <a:endParaRPr lang="ja-JP" sz="1200" noProof="0" dirty="0"/>
          </a:p>
        </p:txBody>
      </p:sp>
      <p:sp>
        <p:nvSpPr>
          <p:cNvPr id="17" name="Shape 15"/>
          <p:cNvSpPr/>
          <p:nvPr/>
        </p:nvSpPr>
        <p:spPr>
          <a:xfrm>
            <a:off x="320040" y="3419856"/>
            <a:ext cx="2697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18" name="Shape 16"/>
          <p:cNvSpPr/>
          <p:nvPr/>
        </p:nvSpPr>
        <p:spPr>
          <a:xfrm>
            <a:off x="411480" y="348386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9" name="Text 17"/>
          <p:cNvSpPr/>
          <p:nvPr/>
        </p:nvSpPr>
        <p:spPr>
          <a:xfrm>
            <a:off x="411480" y="34838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b="1" noProof="0" dirty="0">
                <a:solidFill>
                  <a:srgbClr val="FFFFFF"/>
                </a:solidFill>
              </a:rPr>
              <a:t>1</a:t>
            </a:r>
            <a:endParaRPr lang="ja-JP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3493008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00" noProof="0" dirty="0">
                <a:solidFill>
                  <a:srgbClr val="1E293B"/>
                </a:solidFill>
              </a:rPr>
              <a:t>設定を開き「調整」タブを選択する</a:t>
            </a:r>
            <a:endParaRPr lang="ja-JP" sz="1000" noProof="0" dirty="0"/>
          </a:p>
        </p:txBody>
      </p:sp>
      <p:sp>
        <p:nvSpPr>
          <p:cNvPr id="21" name="Shape 19"/>
          <p:cNvSpPr/>
          <p:nvPr/>
        </p:nvSpPr>
        <p:spPr>
          <a:xfrm>
            <a:off x="3154680" y="3419856"/>
            <a:ext cx="2697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22" name="Shape 20"/>
          <p:cNvSpPr/>
          <p:nvPr/>
        </p:nvSpPr>
        <p:spPr>
          <a:xfrm>
            <a:off x="3246120" y="348386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3" name="Text 21"/>
          <p:cNvSpPr/>
          <p:nvPr/>
        </p:nvSpPr>
        <p:spPr>
          <a:xfrm>
            <a:off x="3246120" y="34838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b="1" noProof="0" dirty="0">
                <a:solidFill>
                  <a:srgbClr val="FFFFFF"/>
                </a:solidFill>
              </a:rPr>
              <a:t>2</a:t>
            </a:r>
            <a:endParaRPr lang="ja-JP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3611880" y="3493008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00" noProof="0" dirty="0">
                <a:solidFill>
                  <a:srgbClr val="1E293B"/>
                </a:solidFill>
              </a:rPr>
              <a:t>「調整を追加」ボタンをクリックする</a:t>
            </a:r>
            <a:endParaRPr lang="ja-JP" sz="1000" noProof="0" dirty="0"/>
          </a:p>
        </p:txBody>
      </p:sp>
      <p:sp>
        <p:nvSpPr>
          <p:cNvPr id="25" name="Shape 23"/>
          <p:cNvSpPr/>
          <p:nvPr/>
        </p:nvSpPr>
        <p:spPr>
          <a:xfrm>
            <a:off x="5989320" y="3419856"/>
            <a:ext cx="2697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26" name="Shape 24"/>
          <p:cNvSpPr/>
          <p:nvPr/>
        </p:nvSpPr>
        <p:spPr>
          <a:xfrm>
            <a:off x="6080760" y="348386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7" name="Text 25"/>
          <p:cNvSpPr/>
          <p:nvPr/>
        </p:nvSpPr>
        <p:spPr>
          <a:xfrm>
            <a:off x="6080760" y="34838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b="1" noProof="0" dirty="0">
                <a:solidFill>
                  <a:srgbClr val="FFFFFF"/>
                </a:solidFill>
              </a:rPr>
              <a:t>3</a:t>
            </a:r>
            <a:endParaRPr lang="ja-JP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6446520" y="3493008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00" noProof="0" dirty="0">
                <a:solidFill>
                  <a:srgbClr val="1E293B"/>
                </a:solidFill>
              </a:rPr>
              <a:t>振替対象の授業と回次（例：第03回）を選択する</a:t>
            </a:r>
            <a:endParaRPr lang="ja-JP" sz="1000" noProof="0" dirty="0"/>
          </a:p>
        </p:txBody>
      </p:sp>
      <p:sp>
        <p:nvSpPr>
          <p:cNvPr id="29" name="Shape 27"/>
          <p:cNvSpPr/>
          <p:nvPr/>
        </p:nvSpPr>
        <p:spPr>
          <a:xfrm>
            <a:off x="320040" y="3895344"/>
            <a:ext cx="2697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30" name="Shape 28"/>
          <p:cNvSpPr/>
          <p:nvPr/>
        </p:nvSpPr>
        <p:spPr>
          <a:xfrm>
            <a:off x="411480" y="395935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1" name="Text 29"/>
          <p:cNvSpPr/>
          <p:nvPr/>
        </p:nvSpPr>
        <p:spPr>
          <a:xfrm>
            <a:off x="411480" y="39593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b="1" noProof="0" dirty="0">
                <a:solidFill>
                  <a:srgbClr val="FFFFFF"/>
                </a:solidFill>
              </a:rPr>
              <a:t>4</a:t>
            </a:r>
            <a:endParaRPr lang="ja-JP" sz="1000" noProof="0" dirty="0"/>
          </a:p>
        </p:txBody>
      </p:sp>
      <p:sp>
        <p:nvSpPr>
          <p:cNvPr id="32" name="Text 30"/>
          <p:cNvSpPr/>
          <p:nvPr/>
        </p:nvSpPr>
        <p:spPr>
          <a:xfrm>
            <a:off x="777240" y="3968496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00" noProof="0" dirty="0">
                <a:solidFill>
                  <a:srgbClr val="1E293B"/>
                </a:solidFill>
              </a:rPr>
              <a:t>振替先の日付・曜日・時限を入力する</a:t>
            </a:r>
            <a:endParaRPr lang="ja-JP" sz="1000" noProof="0" dirty="0"/>
          </a:p>
        </p:txBody>
      </p:sp>
      <p:sp>
        <p:nvSpPr>
          <p:cNvPr id="33" name="Shape 31"/>
          <p:cNvSpPr/>
          <p:nvPr/>
        </p:nvSpPr>
        <p:spPr>
          <a:xfrm>
            <a:off x="3154680" y="3895344"/>
            <a:ext cx="2697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34" name="Shape 32"/>
          <p:cNvSpPr/>
          <p:nvPr/>
        </p:nvSpPr>
        <p:spPr>
          <a:xfrm>
            <a:off x="3246120" y="395935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5" name="Text 33"/>
          <p:cNvSpPr/>
          <p:nvPr/>
        </p:nvSpPr>
        <p:spPr>
          <a:xfrm>
            <a:off x="3246120" y="39593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000" b="1" noProof="0" dirty="0">
                <a:solidFill>
                  <a:srgbClr val="FFFFFF"/>
                </a:solidFill>
              </a:rPr>
              <a:t>5</a:t>
            </a:r>
            <a:endParaRPr lang="ja-JP" sz="1000" noProof="0" dirty="0"/>
          </a:p>
        </p:txBody>
      </p:sp>
      <p:sp>
        <p:nvSpPr>
          <p:cNvPr id="36" name="Text 34"/>
          <p:cNvSpPr/>
          <p:nvPr/>
        </p:nvSpPr>
        <p:spPr>
          <a:xfrm>
            <a:off x="3611880" y="3968496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00" noProof="0" dirty="0">
                <a:solidFill>
                  <a:srgbClr val="1E293B"/>
                </a:solidFill>
              </a:rPr>
              <a:t>OK で保存。「日程プレビュー」で結果を確認する</a:t>
            </a:r>
            <a:endParaRPr lang="ja-JP" sz="1000" noProof="0" dirty="0"/>
          </a:p>
        </p:txBody>
      </p:sp>
      <p:sp>
        <p:nvSpPr>
          <p:cNvPr id="37" name="Shape 35"/>
          <p:cNvSpPr/>
          <p:nvPr/>
        </p:nvSpPr>
        <p:spPr>
          <a:xfrm>
            <a:off x="320040" y="4590288"/>
            <a:ext cx="85039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8" name="Text 36"/>
          <p:cNvSpPr/>
          <p:nvPr/>
        </p:nvSpPr>
        <p:spPr>
          <a:xfrm>
            <a:off x="429768" y="4590288"/>
            <a:ext cx="8394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92400E"/>
                </a:solidFill>
              </a:rPr>
              <a:t>💡 振替後は回次番号が自動的に再計算されます。「日程プレビュー」タブで変更結果を必ず確認してください。</a:t>
            </a:r>
            <a:endParaRPr lang="ja-JP" sz="1050" noProof="0" dirty="0"/>
          </a:p>
        </p:txBody>
      </p:sp>
      <p:sp>
        <p:nvSpPr>
          <p:cNvPr id="39" name="Shape 3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40" name="Text 38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41" name="Text 39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10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外観設定</a:t>
            </a:r>
            <a:endParaRPr lang="ja-JP" sz="2300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60120"/>
            <a:ext cx="4846320" cy="3291840"/>
          </a:xfrm>
          <a:prstGeom prst="rect">
            <a:avLst/>
          </a:prstGeom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320040" y="42976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i="1" noProof="0" dirty="0">
                <a:solidFill>
                  <a:srgbClr val="64748B"/>
                </a:solidFill>
              </a:rPr>
              <a:t>「外観」タブ — 実際の画面</a:t>
            </a:r>
            <a:endParaRPr lang="ja-JP" sz="950" noProof="0" dirty="0"/>
          </a:p>
        </p:txBody>
      </p:sp>
      <p:sp>
        <p:nvSpPr>
          <p:cNvPr id="6" name="Shape 3"/>
          <p:cNvSpPr/>
          <p:nvPr/>
        </p:nvSpPr>
        <p:spPr>
          <a:xfrm>
            <a:off x="5349240" y="1005840"/>
            <a:ext cx="1234440" cy="47548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7" name="Text 4"/>
          <p:cNvSpPr/>
          <p:nvPr/>
        </p:nvSpPr>
        <p:spPr>
          <a:xfrm>
            <a:off x="5349240" y="1005840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b="1" noProof="0" dirty="0">
                <a:solidFill>
                  <a:srgbClr val="FFFFFF"/>
                </a:solidFill>
              </a:rPr>
              <a:t>フォント</a:t>
            </a:r>
            <a:endParaRPr lang="ja-JP" sz="950" noProof="0" dirty="0"/>
          </a:p>
        </p:txBody>
      </p:sp>
      <p:sp>
        <p:nvSpPr>
          <p:cNvPr id="8" name="Text 5"/>
          <p:cNvSpPr/>
          <p:nvPr/>
        </p:nvSpPr>
        <p:spPr>
          <a:xfrm>
            <a:off x="6675120" y="1060704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コード表示フォント（等幅推奨：Courier New）</a:t>
            </a:r>
            <a:endParaRPr lang="ja-JP" sz="1050" noProof="0" dirty="0"/>
          </a:p>
        </p:txBody>
      </p:sp>
      <p:sp>
        <p:nvSpPr>
          <p:cNvPr id="9" name="Shape 6"/>
          <p:cNvSpPr/>
          <p:nvPr/>
        </p:nvSpPr>
        <p:spPr>
          <a:xfrm>
            <a:off x="5349240" y="1609344"/>
            <a:ext cx="1234440" cy="47548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0" name="Text 7"/>
          <p:cNvSpPr/>
          <p:nvPr/>
        </p:nvSpPr>
        <p:spPr>
          <a:xfrm>
            <a:off x="5349240" y="1609344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b="1" noProof="0" dirty="0">
                <a:solidFill>
                  <a:srgbClr val="FFFFFF"/>
                </a:solidFill>
              </a:rPr>
              <a:t>サイズ</a:t>
            </a:r>
            <a:endParaRPr lang="ja-JP" sz="950" noProof="0" dirty="0"/>
          </a:p>
        </p:txBody>
      </p:sp>
      <p:sp>
        <p:nvSpPr>
          <p:cNvPr id="11" name="Text 8"/>
          <p:cNvSpPr/>
          <p:nvPr/>
        </p:nvSpPr>
        <p:spPr>
          <a:xfrm>
            <a:off x="6675120" y="1664208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文字サイズ（デフォルト 72pt）。投影時に明確に見えるよう調整</a:t>
            </a:r>
            <a:endParaRPr lang="ja-JP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5349240" y="2212848"/>
            <a:ext cx="1234440" cy="47548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3" name="Text 10"/>
          <p:cNvSpPr/>
          <p:nvPr/>
        </p:nvSpPr>
        <p:spPr>
          <a:xfrm>
            <a:off x="5349240" y="2212848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b="1" noProof="0" dirty="0">
                <a:solidFill>
                  <a:srgbClr val="FFFFFF"/>
                </a:solidFill>
              </a:rPr>
              <a:t>文字色</a:t>
            </a:r>
            <a:endParaRPr lang="ja-JP" sz="950" noProof="0" dirty="0"/>
          </a:p>
        </p:txBody>
      </p:sp>
      <p:sp>
        <p:nvSpPr>
          <p:cNvPr id="14" name="Text 11"/>
          <p:cNvSpPr/>
          <p:nvPr/>
        </p:nvSpPr>
        <p:spPr>
          <a:xfrm>
            <a:off x="6675120" y="2267712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コードの文字色（デフォルト：明緑 #00ff7f）</a:t>
            </a:r>
            <a:endParaRPr lang="ja-JP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5349240" y="2816352"/>
            <a:ext cx="1234440" cy="47548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6" name="Text 13"/>
          <p:cNvSpPr/>
          <p:nvPr/>
        </p:nvSpPr>
        <p:spPr>
          <a:xfrm>
            <a:off x="5349240" y="2816352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b="1" noProof="0" dirty="0">
                <a:solidFill>
                  <a:srgbClr val="FFFFFF"/>
                </a:solidFill>
              </a:rPr>
              <a:t>背景色 / 枠色</a:t>
            </a:r>
            <a:endParaRPr lang="ja-JP" sz="950" noProof="0" dirty="0"/>
          </a:p>
        </p:txBody>
      </p:sp>
      <p:sp>
        <p:nvSpPr>
          <p:cNvPr id="17" name="Text 14"/>
          <p:cNvSpPr/>
          <p:nvPr/>
        </p:nvSpPr>
        <p:spPr>
          <a:xfrm>
            <a:off x="6675120" y="2871216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ウィンドウの背景・枠線の色を変更できます</a:t>
            </a:r>
            <a:endParaRPr lang="ja-JP" sz="1050" noProof="0" dirty="0"/>
          </a:p>
        </p:txBody>
      </p:sp>
      <p:sp>
        <p:nvSpPr>
          <p:cNvPr id="18" name="Shape 15"/>
          <p:cNvSpPr/>
          <p:nvPr/>
        </p:nvSpPr>
        <p:spPr>
          <a:xfrm>
            <a:off x="5349240" y="3419856"/>
            <a:ext cx="1234440" cy="47548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9" name="Text 16"/>
          <p:cNvSpPr/>
          <p:nvPr/>
        </p:nvSpPr>
        <p:spPr>
          <a:xfrm>
            <a:off x="5349240" y="3419856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b="1" noProof="0" dirty="0">
                <a:solidFill>
                  <a:srgbClr val="FFFFFF"/>
                </a:solidFill>
              </a:rPr>
              <a:t>科目名フォント</a:t>
            </a:r>
            <a:endParaRPr lang="ja-JP" sz="950" noProof="0" dirty="0"/>
          </a:p>
        </p:txBody>
      </p:sp>
      <p:sp>
        <p:nvSpPr>
          <p:cNvPr id="20" name="Text 17"/>
          <p:cNvSpPr/>
          <p:nvPr/>
        </p:nvSpPr>
        <p:spPr>
          <a:xfrm>
            <a:off x="6675120" y="347472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授業名の表示フォントとサイズ（デフォルト 11pt）</a:t>
            </a:r>
            <a:endParaRPr lang="ja-JP" sz="1050" noProof="0" dirty="0"/>
          </a:p>
        </p:txBody>
      </p:sp>
      <p:sp>
        <p:nvSpPr>
          <p:cNvPr id="21" name="Shape 18"/>
          <p:cNvSpPr/>
          <p:nvPr/>
        </p:nvSpPr>
        <p:spPr>
          <a:xfrm>
            <a:off x="5349240" y="4023360"/>
            <a:ext cx="1234440" cy="47548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2" name="Text 19"/>
          <p:cNvSpPr/>
          <p:nvPr/>
        </p:nvSpPr>
        <p:spPr>
          <a:xfrm>
            <a:off x="5349240" y="4023360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950" b="1" noProof="0" dirty="0">
                <a:solidFill>
                  <a:srgbClr val="FFFFFF"/>
                </a:solidFill>
              </a:rPr>
              <a:t>スケール</a:t>
            </a:r>
            <a:endParaRPr lang="ja-JP" sz="950" noProof="0" dirty="0"/>
          </a:p>
        </p:txBody>
      </p:sp>
      <p:sp>
        <p:nvSpPr>
          <p:cNvPr id="23" name="Text 20"/>
          <p:cNvSpPr/>
          <p:nvPr/>
        </p:nvSpPr>
        <p:spPr>
          <a:xfrm>
            <a:off x="6675120" y="4078224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050" noProof="0" dirty="0">
                <a:solidFill>
                  <a:srgbClr val="1E293B"/>
                </a:solidFill>
              </a:rPr>
              <a:t>ウィンドウ全体の拡大縮小（30%〜300%、デフォルト 100%）</a:t>
            </a:r>
            <a:endParaRPr lang="ja-JP" sz="1050" noProof="0" dirty="0"/>
          </a:p>
        </p:txBody>
      </p:sp>
      <p:sp>
        <p:nvSpPr>
          <p:cNvPr id="24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5" name="Text 22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26" name="Text 23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11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2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よくある質問（FAQ）</a:t>
            </a:r>
            <a:endParaRPr lang="ja-JP" sz="230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87782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64008" cy="87782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6" name="Text 4"/>
          <p:cNvSpPr/>
          <p:nvPr/>
        </p:nvSpPr>
        <p:spPr>
          <a:xfrm>
            <a:off x="512064" y="9692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Q：出席コードウィンドウが自動表示されません。</a:t>
            </a:r>
            <a:endParaRPr lang="ja-JP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512064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A：確認ポイント：① 現在時刻が表示ウィンドウ期間内か（授業開始 10 分前〜授業開始 30 分後）；② teacher_config.json の曜日・時限が正しいか；③ school_config.json に該当週の授業日が登録されているか。</a:t>
            </a:r>
            <a:endParaRPr lang="ja-JP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320040" y="1920240"/>
            <a:ext cx="8503920" cy="87782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9" name="Shape 7"/>
          <p:cNvSpPr/>
          <p:nvPr/>
        </p:nvSpPr>
        <p:spPr>
          <a:xfrm>
            <a:off x="320040" y="1920240"/>
            <a:ext cx="64008" cy="87782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0" name="Text 8"/>
          <p:cNvSpPr/>
          <p:nvPr/>
        </p:nvSpPr>
        <p:spPr>
          <a:xfrm>
            <a:off x="512064" y="1975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Q：起動したのにアプリが見当たりません。</a:t>
            </a:r>
            <a:endParaRPr lang="ja-JP" sz="1200" noProof="0" dirty="0"/>
          </a:p>
        </p:txBody>
      </p:sp>
      <p:sp>
        <p:nvSpPr>
          <p:cNvPr id="11" name="Text 9"/>
          <p:cNvSpPr/>
          <p:nvPr/>
        </p:nvSpPr>
        <p:spPr>
          <a:xfrm>
            <a:off x="512064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A：アプリはトレイのみで動作します（メインウィンドウなし）。Windows はタスクバー右下の通知領域、macOS は画面右上のメニューバーにアイコンが表示されます。</a:t>
            </a:r>
            <a:endParaRPr lang="ja-JP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320040" y="2926080"/>
            <a:ext cx="8503920" cy="87782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3" name="Shape 11"/>
          <p:cNvSpPr/>
          <p:nvPr/>
        </p:nvSpPr>
        <p:spPr>
          <a:xfrm>
            <a:off x="320040" y="2926080"/>
            <a:ext cx="64008" cy="87782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4" name="Text 12"/>
          <p:cNvSpPr/>
          <p:nvPr/>
        </p:nvSpPr>
        <p:spPr>
          <a:xfrm>
            <a:off x="512064" y="29809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Q：別の教員の設定ファイルに切り替えるには？</a:t>
            </a:r>
            <a:endParaRPr lang="ja-JP" sz="1200" noProof="0" dirty="0"/>
          </a:p>
        </p:txBody>
      </p:sp>
      <p:sp>
        <p:nvSpPr>
          <p:cNvPr id="15" name="Text 13"/>
          <p:cNvSpPr/>
          <p:nvPr/>
        </p:nvSpPr>
        <p:spPr>
          <a:xfrm>
            <a:off x="512064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A：設定 →「授業」タブ →「設定を読み込む」ボタン → 対象の JSON ファイルを選択して切り替えます。</a:t>
            </a:r>
            <a:endParaRPr lang="ja-JP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320040" y="3931920"/>
            <a:ext cx="8503920" cy="877824"/>
          </a:xfrm>
          <a:prstGeom prst="rect">
            <a:avLst/>
          </a:prstGeom>
          <a:solidFill>
            <a:srgbClr val="EFF6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17" name="Shape 15"/>
          <p:cNvSpPr/>
          <p:nvPr/>
        </p:nvSpPr>
        <p:spPr>
          <a:xfrm>
            <a:off x="320040" y="3931920"/>
            <a:ext cx="64008" cy="87782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18" name="Text 16"/>
          <p:cNvSpPr/>
          <p:nvPr/>
        </p:nvSpPr>
        <p:spPr>
          <a:xfrm>
            <a:off x="512064" y="39867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b="1" noProof="0" dirty="0">
                <a:solidFill>
                  <a:srgbClr val="1E40AF"/>
                </a:solidFill>
              </a:rPr>
              <a:t>Q：振替後に出席コードがずれませんか？</a:t>
            </a:r>
            <a:endParaRPr lang="ja-JP" sz="1200" noProof="0" dirty="0"/>
          </a:p>
        </p:txBody>
      </p:sp>
      <p:sp>
        <p:nvSpPr>
          <p:cNvPr id="19" name="Text 17"/>
          <p:cNvSpPr/>
          <p:nvPr/>
        </p:nvSpPr>
        <p:spPr>
          <a:xfrm>
            <a:off x="512064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noProof="0" dirty="0">
                <a:solidFill>
                  <a:srgbClr val="1E293B"/>
                </a:solidFill>
              </a:rPr>
              <a:t>A：コードは回次番号で管理されています。振替後は回次番号が自動再計算されますので、「日程プレビュー」で内容を確認してから運用してください。</a:t>
            </a:r>
            <a:endParaRPr lang="ja-JP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21" name="Text 19"/>
          <p:cNvSpPr/>
          <p:nvPr/>
        </p:nvSpPr>
        <p:spPr>
          <a:xfrm>
            <a:off x="365760" y="4892040"/>
            <a:ext cx="6400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CodeWidget  ユーザーマニュアル</a:t>
            </a:r>
            <a:endParaRPr lang="ja-JP" sz="900" noProof="0" dirty="0"/>
          </a:p>
        </p:txBody>
      </p:sp>
      <p:sp>
        <p:nvSpPr>
          <p:cNvPr id="22" name="Text 20"/>
          <p:cNvSpPr/>
          <p:nvPr/>
        </p:nvSpPr>
        <p:spPr>
          <a:xfrm>
            <a:off x="8412480" y="4892040"/>
            <a:ext cx="5486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ja-JP" sz="900" noProof="0" dirty="0">
                <a:solidFill>
                  <a:srgbClr val="BFDBFE"/>
                </a:solidFill>
              </a:rPr>
              <a:t>12</a:t>
            </a:r>
            <a:endParaRPr lang="ja-JP" sz="9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" name="Shape 1"/>
          <p:cNvSpPr/>
          <p:nvPr/>
        </p:nvSpPr>
        <p:spPr>
          <a:xfrm>
            <a:off x="320040" y="274320"/>
            <a:ext cx="3749040" cy="455371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  <p:txBody>
          <a:bodyPr/>
          <a:lstStyle/>
          <a:p>
            <a:endParaRPr lang="ja-JP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274320"/>
            <a:ext cx="3749040" cy="43891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274320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400" b="1" noProof="0" dirty="0">
                <a:solidFill>
                  <a:srgbClr val="FFFFFF"/>
                </a:solidFill>
              </a:rPr>
              <a:t>クイックリファレンス</a:t>
            </a:r>
            <a:endParaRPr lang="ja-JP" sz="1400" noProof="0" dirty="0"/>
          </a:p>
        </p:txBody>
      </p:sp>
      <p:sp>
        <p:nvSpPr>
          <p:cNvPr id="6" name="Shape 4"/>
          <p:cNvSpPr/>
          <p:nvPr/>
        </p:nvSpPr>
        <p:spPr>
          <a:xfrm>
            <a:off x="457200" y="859536"/>
            <a:ext cx="3474720" cy="0"/>
          </a:xfrm>
          <a:prstGeom prst="line">
            <a:avLst/>
          </a:prstGeom>
          <a:noFill/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7" name="Text 5"/>
          <p:cNvSpPr/>
          <p:nvPr/>
        </p:nvSpPr>
        <p:spPr>
          <a:xfrm>
            <a:off x="475488" y="92354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/>
              <a:t>ウィンドウ表示</a:t>
            </a:r>
          </a:p>
        </p:txBody>
      </p:sp>
      <p:sp>
        <p:nvSpPr>
          <p:cNvPr id="8" name="Text 6"/>
          <p:cNvSpPr/>
          <p:nvPr/>
        </p:nvSpPr>
        <p:spPr>
          <a:xfrm>
            <a:off x="2255520" y="923544"/>
            <a:ext cx="18928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b="1" noProof="0" dirty="0">
                <a:solidFill>
                  <a:srgbClr val="1E40AF"/>
                </a:solidFill>
              </a:rPr>
              <a:t>授業開始 10 分前〜30 分後</a:t>
            </a:r>
            <a:endParaRPr lang="ja-JP" sz="1100" noProof="0" dirty="0"/>
          </a:p>
        </p:txBody>
      </p:sp>
      <p:sp>
        <p:nvSpPr>
          <p:cNvPr id="9" name="Shape 7"/>
          <p:cNvSpPr/>
          <p:nvPr/>
        </p:nvSpPr>
        <p:spPr>
          <a:xfrm>
            <a:off x="457200" y="1362456"/>
            <a:ext cx="3474720" cy="0"/>
          </a:xfrm>
          <a:prstGeom prst="line">
            <a:avLst/>
          </a:prstGeom>
          <a:noFill/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10" name="Text 8"/>
          <p:cNvSpPr/>
          <p:nvPr/>
        </p:nvSpPr>
        <p:spPr>
          <a:xfrm>
            <a:off x="475488" y="142646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/>
              <a:t>一時コード有効期限</a:t>
            </a:r>
          </a:p>
        </p:txBody>
      </p:sp>
      <p:sp>
        <p:nvSpPr>
          <p:cNvPr id="11" name="Text 9"/>
          <p:cNvSpPr/>
          <p:nvPr/>
        </p:nvSpPr>
        <p:spPr>
          <a:xfrm>
            <a:off x="2255520" y="142646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b="1" noProof="0" dirty="0">
                <a:solidFill>
                  <a:srgbClr val="1E40AF"/>
                </a:solidFill>
              </a:rPr>
              <a:t>30 分</a:t>
            </a:r>
            <a:endParaRPr lang="ja-JP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457200" y="1865376"/>
            <a:ext cx="3474720" cy="0"/>
          </a:xfrm>
          <a:prstGeom prst="line">
            <a:avLst/>
          </a:prstGeom>
          <a:noFill/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13" name="Text 11"/>
          <p:cNvSpPr/>
          <p:nvPr/>
        </p:nvSpPr>
        <p:spPr>
          <a:xfrm>
            <a:off x="475488" y="192938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/>
              <a:t>コード形式</a:t>
            </a:r>
          </a:p>
        </p:txBody>
      </p:sp>
      <p:sp>
        <p:nvSpPr>
          <p:cNvPr id="14" name="Text 12"/>
          <p:cNvSpPr/>
          <p:nvPr/>
        </p:nvSpPr>
        <p:spPr>
          <a:xfrm>
            <a:off x="2255520" y="192938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b="1" noProof="0" dirty="0">
                <a:solidFill>
                  <a:srgbClr val="1E40AF"/>
                </a:solidFill>
              </a:rPr>
              <a:t>4 桁の数字</a:t>
            </a:r>
            <a:endParaRPr lang="ja-JP" sz="1100" noProof="0" dirty="0"/>
          </a:p>
        </p:txBody>
      </p:sp>
      <p:sp>
        <p:nvSpPr>
          <p:cNvPr id="15" name="Shape 13"/>
          <p:cNvSpPr/>
          <p:nvPr/>
        </p:nvSpPr>
        <p:spPr>
          <a:xfrm>
            <a:off x="457200" y="2368296"/>
            <a:ext cx="3474720" cy="0"/>
          </a:xfrm>
          <a:prstGeom prst="line">
            <a:avLst/>
          </a:prstGeom>
          <a:noFill/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16" name="Text 14"/>
          <p:cNvSpPr/>
          <p:nvPr/>
        </p:nvSpPr>
        <p:spPr>
          <a:xfrm>
            <a:off x="475488" y="243230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/>
              <a:t>授業回数</a:t>
            </a:r>
          </a:p>
        </p:txBody>
      </p:sp>
      <p:sp>
        <p:nvSpPr>
          <p:cNvPr id="17" name="Text 15"/>
          <p:cNvSpPr/>
          <p:nvPr/>
        </p:nvSpPr>
        <p:spPr>
          <a:xfrm>
            <a:off x="2255520" y="243230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b="1" noProof="0" dirty="0">
                <a:solidFill>
                  <a:srgbClr val="1E40AF"/>
                </a:solidFill>
              </a:rPr>
              <a:t>14 回</a:t>
            </a:r>
            <a:endParaRPr lang="ja-JP" sz="1100" noProof="0" dirty="0"/>
          </a:p>
        </p:txBody>
      </p:sp>
      <p:sp>
        <p:nvSpPr>
          <p:cNvPr id="18" name="Shape 16"/>
          <p:cNvSpPr/>
          <p:nvPr/>
        </p:nvSpPr>
        <p:spPr>
          <a:xfrm>
            <a:off x="457200" y="2871216"/>
            <a:ext cx="3474720" cy="0"/>
          </a:xfrm>
          <a:prstGeom prst="line">
            <a:avLst/>
          </a:prstGeom>
          <a:noFill/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19" name="Text 17"/>
          <p:cNvSpPr/>
          <p:nvPr/>
        </p:nvSpPr>
        <p:spPr>
          <a:xfrm>
            <a:off x="475488" y="293522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/>
              <a:t>ポーリング間隔</a:t>
            </a:r>
          </a:p>
        </p:txBody>
      </p:sp>
      <p:sp>
        <p:nvSpPr>
          <p:cNvPr id="20" name="Text 18"/>
          <p:cNvSpPr/>
          <p:nvPr/>
        </p:nvSpPr>
        <p:spPr>
          <a:xfrm>
            <a:off x="2255520" y="293522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b="1" noProof="0" dirty="0">
                <a:solidFill>
                  <a:srgbClr val="1E40AF"/>
                </a:solidFill>
              </a:rPr>
              <a:t>30 秒</a:t>
            </a:r>
            <a:endParaRPr lang="ja-JP" sz="1100" noProof="0" dirty="0"/>
          </a:p>
        </p:txBody>
      </p:sp>
      <p:sp>
        <p:nvSpPr>
          <p:cNvPr id="21" name="Shape 19"/>
          <p:cNvSpPr/>
          <p:nvPr/>
        </p:nvSpPr>
        <p:spPr>
          <a:xfrm>
            <a:off x="457200" y="3374136"/>
            <a:ext cx="3474720" cy="0"/>
          </a:xfrm>
          <a:prstGeom prst="line">
            <a:avLst/>
          </a:prstGeom>
          <a:noFill/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22" name="Text 20"/>
          <p:cNvSpPr/>
          <p:nvPr/>
        </p:nvSpPr>
        <p:spPr>
          <a:xfrm>
            <a:off x="475488" y="343814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/>
              <a:t>対応プラットフォーム</a:t>
            </a:r>
          </a:p>
        </p:txBody>
      </p:sp>
      <p:sp>
        <p:nvSpPr>
          <p:cNvPr id="23" name="Text 21"/>
          <p:cNvSpPr/>
          <p:nvPr/>
        </p:nvSpPr>
        <p:spPr>
          <a:xfrm>
            <a:off x="2255520" y="343814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b="1" noProof="0" dirty="0">
                <a:solidFill>
                  <a:srgbClr val="1E40AF"/>
                </a:solidFill>
              </a:rPr>
              <a:t>Windows 10/11 · macOS</a:t>
            </a:r>
            <a:endParaRPr lang="ja-JP" sz="1100" noProof="0" dirty="0"/>
          </a:p>
        </p:txBody>
      </p:sp>
      <p:sp>
        <p:nvSpPr>
          <p:cNvPr id="24" name="Shape 22"/>
          <p:cNvSpPr/>
          <p:nvPr/>
        </p:nvSpPr>
        <p:spPr>
          <a:xfrm>
            <a:off x="457200" y="3877056"/>
            <a:ext cx="3474720" cy="0"/>
          </a:xfrm>
          <a:prstGeom prst="line">
            <a:avLst/>
          </a:prstGeom>
          <a:noFill/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ja-JP" noProof="0" dirty="0"/>
          </a:p>
        </p:txBody>
      </p:sp>
      <p:sp>
        <p:nvSpPr>
          <p:cNvPr id="25" name="Text 23"/>
          <p:cNvSpPr/>
          <p:nvPr/>
        </p:nvSpPr>
        <p:spPr>
          <a:xfrm>
            <a:off x="475488" y="394106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200" noProof="0" dirty="0"/>
              <a:t>設定ファイル形式</a:t>
            </a:r>
          </a:p>
        </p:txBody>
      </p:sp>
      <p:sp>
        <p:nvSpPr>
          <p:cNvPr id="26" name="Text 24"/>
          <p:cNvSpPr/>
          <p:nvPr/>
        </p:nvSpPr>
        <p:spPr>
          <a:xfrm>
            <a:off x="2255520" y="394106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sz="1100" b="1" noProof="0" dirty="0">
                <a:solidFill>
                  <a:srgbClr val="1E40AF"/>
                </a:solidFill>
              </a:rPr>
              <a:t>JSON</a:t>
            </a:r>
            <a:endParaRPr lang="ja-JP" sz="1100" noProof="0" dirty="0"/>
          </a:p>
        </p:txBody>
      </p:sp>
      <p:sp>
        <p:nvSpPr>
          <p:cNvPr id="27" name="Text 25"/>
          <p:cNvSpPr/>
          <p:nvPr/>
        </p:nvSpPr>
        <p:spPr>
          <a:xfrm>
            <a:off x="4389120" y="320040"/>
            <a:ext cx="4434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2600" b="1" noProof="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ご利用ありがとう</a:t>
            </a:r>
            <a:endParaRPr lang="ja-JP" sz="2600" noProof="0" dirty="0"/>
          </a:p>
        </p:txBody>
      </p:sp>
      <p:sp>
        <p:nvSpPr>
          <p:cNvPr id="28" name="Text 26"/>
          <p:cNvSpPr/>
          <p:nvPr/>
        </p:nvSpPr>
        <p:spPr>
          <a:xfrm>
            <a:off x="4389120" y="91440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2200" b="1" noProof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ございます</a:t>
            </a:r>
            <a:endParaRPr lang="ja-JP" sz="2200" noProof="0" dirty="0"/>
          </a:p>
        </p:txBody>
      </p:sp>
      <p:sp>
        <p:nvSpPr>
          <p:cNvPr id="29" name="Shape 27"/>
          <p:cNvSpPr/>
          <p:nvPr/>
        </p:nvSpPr>
        <p:spPr>
          <a:xfrm>
            <a:off x="4937760" y="1444752"/>
            <a:ext cx="333756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0" name="Text 28"/>
          <p:cNvSpPr/>
          <p:nvPr/>
        </p:nvSpPr>
        <p:spPr>
          <a:xfrm>
            <a:off x="4389120" y="1572768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300" noProof="0" dirty="0">
                <a:solidFill>
                  <a:srgbClr val="64748B"/>
                </a:solidFill>
              </a:rPr>
              <a:t>CodeWidget  出席コード展示ツール</a:t>
            </a:r>
            <a:endParaRPr lang="ja-JP" sz="1300" noProof="0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029968"/>
            <a:ext cx="4160520" cy="1901952"/>
          </a:xfrm>
          <a:prstGeom prst="rect">
            <a:avLst/>
          </a:prstGeom>
          <a:effectLst>
            <a:outerShdw blurRad="76200" dist="38100" dir="8100000" algn="bl" rotWithShape="0">
              <a:srgbClr val="1E40AF">
                <a:alpha val="10000"/>
              </a:srgbClr>
            </a:outerShdw>
          </a:effectLst>
        </p:spPr>
      </p:pic>
      <p:sp>
        <p:nvSpPr>
          <p:cNvPr id="33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noProof="0" dirty="0"/>
          </a:p>
        </p:txBody>
      </p:sp>
      <p:sp>
        <p:nvSpPr>
          <p:cNvPr id="34" name="Text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sz="1100" b="1" noProof="0" dirty="0">
                <a:solidFill>
                  <a:srgbClr val="FFFFFF"/>
                </a:solidFill>
              </a:rPr>
              <a:t>v1.0.0　　Python 3.12 + PySide6　　麗澤大学　2026年度</a:t>
            </a:r>
            <a:endParaRPr lang="ja-JP" sz="11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1454</Words>
  <Application>Microsoft Office PowerPoint</Application>
  <PresentationFormat>全屏显示(16:9)</PresentationFormat>
  <Paragraphs>241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CodeWidget ユーザーマニュアル</dc:title>
  <dc:subject>PptxGenJS Presentation</dc:subject>
  <dc:creator>PptxGenJS</dc:creator>
  <cp:lastModifiedBy>邵 肖偉</cp:lastModifiedBy>
  <cp:revision>14</cp:revision>
  <dcterms:created xsi:type="dcterms:W3CDTF">2026-03-04T02:52:32Z</dcterms:created>
  <dcterms:modified xsi:type="dcterms:W3CDTF">2026-08-08T13:27:22Z</dcterms:modified>
</cp:coreProperties>
</file>